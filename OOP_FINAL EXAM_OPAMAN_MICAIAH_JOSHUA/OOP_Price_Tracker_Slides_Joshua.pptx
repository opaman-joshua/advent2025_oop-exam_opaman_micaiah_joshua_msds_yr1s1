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cal Market Price Tracker for Agricultural Commodities in Uganda" id="{DFD8EE30-0742-48C6-92D9-941D2322433C}">
          <p14:sldIdLst>
            <p14:sldId id="2561"/>
          </p14:sldIdLst>
        </p14:section>
        <p14:section name="Project Overview" id="{61B88C91-A1C0-4534-8702-389ED96E97DF}">
          <p14:sldIdLst>
            <p14:sldId id="2562"/>
            <p14:sldId id="2563"/>
            <p14:sldId id="2564"/>
            <p14:sldId id="2565"/>
            <p14:sldId id="2566"/>
            <p14:sldId id="2567"/>
            <p14:sldId id="2568"/>
            <p14:sldId id="2569"/>
            <p14:sldId id="2570"/>
            <p14:sldId id="2571"/>
            <p14:sldId id="257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E8BF78-EBF4-4F3C-ADA1-A7C12AFE2DB5}" v="13" dt="2025-11-05T03:52:20.0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p:scale>
          <a:sx n="79" d="100"/>
          <a:sy n="79" d="100"/>
        </p:scale>
        <p:origin x="1752" y="576"/>
      </p:cViewPr>
      <p:guideLst/>
    </p:cSldViewPr>
  </p:slideViewPr>
  <p:notesTextViewPr>
    <p:cViewPr>
      <p:scale>
        <a:sx n="3" d="2"/>
        <a:sy n="3" d="2"/>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BFF5BF-6995-4B11-A161-6EA084DCFE0F}" type="datetimeFigureOut">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9ED9E4-609D-4A68-AD9F-0DAA47C85BB0}" type="slidenum">
              <a:t>‹#›</a:t>
            </a:fld>
            <a:endParaRPr lang="en-US"/>
          </a:p>
        </p:txBody>
      </p:sp>
    </p:spTree>
    <p:extLst>
      <p:ext uri="{BB962C8B-B14F-4D97-AF65-F5344CB8AC3E}">
        <p14:creationId xmlns:p14="http://schemas.microsoft.com/office/powerpoint/2010/main" val="2928682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C8D56B9-0561-4C33-A9DF-2CC1F354273E}" type="slidenum">
              <a:t>1</a:t>
            </a:fld>
            <a:endParaRPr lang="en-US"/>
          </a:p>
        </p:txBody>
      </p:sp>
    </p:spTree>
    <p:extLst>
      <p:ext uri="{BB962C8B-B14F-4D97-AF65-F5344CB8AC3E}">
        <p14:creationId xmlns:p14="http://schemas.microsoft.com/office/powerpoint/2010/main" val="1996890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https://bayloruganda22-my.sharepoint.com/personal/jmopaman_baylor-uganda_org/_layouts/15/Doc.aspx?sourcedoc=%7BD3163637-F9C4-4D01-9DF1-341E9EA1EA73%7D&amp;file=Opaman_Micaiah_Joshua_OOP_Final%20Examination%20Project%20Proposal.docx&amp;action=default&amp;mobileredirect=true
Title &amp; Student Info, Problem Statement, Objectives, Real-World Relevance, Scope of Work, Tools &amp; Technologies, System Design (OOP approach), Key Features, Expected Outcomes, Future Enhancements &amp; Conclusion
</a:t>
            </a:r>
          </a:p>
        </p:txBody>
      </p:sp>
      <p:sp>
        <p:nvSpPr>
          <p:cNvPr id="4" name="Slide Number Placeholder 3"/>
          <p:cNvSpPr>
            <a:spLocks noGrp="1"/>
          </p:cNvSpPr>
          <p:nvPr>
            <p:ph type="sldNum" sz="quarter" idx="5"/>
          </p:nvPr>
        </p:nvSpPr>
        <p:spPr/>
        <p:txBody>
          <a:bodyPr/>
          <a:lstStyle/>
          <a:p>
            <a:fld id="{2C8D56B9-0561-4C33-A9DF-2CC1F354273E}" type="slidenum">
              <a:t>2</a:t>
            </a:fld>
            <a:endParaRPr lang="en-US"/>
          </a:p>
        </p:txBody>
      </p:sp>
    </p:spTree>
    <p:extLst>
      <p:ext uri="{BB962C8B-B14F-4D97-AF65-F5344CB8AC3E}">
        <p14:creationId xmlns:p14="http://schemas.microsoft.com/office/powerpoint/2010/main" val="1071667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https://bayloruganda22-my.sharepoint.com/personal/jmopaman_baylor-uganda_org/_layouts/15/Doc.aspx?sourcedoc=%7BD3163637-F9C4-4D01-9DF1-341E9EA1EA73%7D&amp;file=Opaman_Micaiah_Joshua_OOP_Final%20Examination%20Project%20Proposal.docx&amp;action=default&amp;mobileredirect=true
This presentation introduces the final examination project titled 'Local Market Price Tracker for Agricultural Commodities in Uganda' developed by Opaman Micaiah Joshua. The project is part of the Object-Oriented Programming with Python course and aims to address the challenges faced by smallholder farmers and traders in accessing reliable market price data. The student details include Registration Number S25M19/038 and Access Number B35677. The project leverages Python's object-oriented capabilities to build a robust and accessible tool for tracking agricultural commodity prices.
</a:t>
            </a:r>
          </a:p>
        </p:txBody>
      </p:sp>
      <p:sp>
        <p:nvSpPr>
          <p:cNvPr id="4" name="Slide Number Placeholder 3"/>
          <p:cNvSpPr>
            <a:spLocks noGrp="1"/>
          </p:cNvSpPr>
          <p:nvPr>
            <p:ph type="sldNum" sz="quarter" idx="5"/>
          </p:nvPr>
        </p:nvSpPr>
        <p:spPr/>
        <p:txBody>
          <a:bodyPr/>
          <a:lstStyle/>
          <a:p>
            <a:fld id="{2C8D56B9-0561-4C33-A9DF-2CC1F354273E}" type="slidenum">
              <a:t>3</a:t>
            </a:fld>
            <a:endParaRPr lang="en-US"/>
          </a:p>
        </p:txBody>
      </p:sp>
    </p:spTree>
    <p:extLst>
      <p:ext uri="{BB962C8B-B14F-4D97-AF65-F5344CB8AC3E}">
        <p14:creationId xmlns:p14="http://schemas.microsoft.com/office/powerpoint/2010/main" val="3015253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https://bayloruganda22-my.sharepoint.com/personal/jmopaman_baylor-uganda_org/_layouts/15/Doc.aspx?sourcedoc=%7BD3163637-F9C4-4D01-9DF1-341E9EA1EA73%7D&amp;file=Opaman_Micaiah_Joshua_OOP_Final%20Examination%20Project%20Proposal.docx&amp;action=default&amp;mobileredirect=true
In Uganda, smallholder farmers and local traders often lack access to consistent and reliable market price data for staple crops such as maize, beans, matoke, and groundnuts. This results in farmers selling produce at undervalued rates and traders struggling with planning purchases and sales. Existing platforms are often internet-dependent, expensive, or not tailored to local needs. The absence of centralized and accessible price data contributes to income instability and weakens the bargaining power of rural producers. This project seeks to address these issues by developing a simple, offline-capable tool for tracking and analyzing price trends.
</a:t>
            </a:r>
          </a:p>
        </p:txBody>
      </p:sp>
      <p:sp>
        <p:nvSpPr>
          <p:cNvPr id="4" name="Slide Number Placeholder 3"/>
          <p:cNvSpPr>
            <a:spLocks noGrp="1"/>
          </p:cNvSpPr>
          <p:nvPr>
            <p:ph type="sldNum" sz="quarter" idx="5"/>
          </p:nvPr>
        </p:nvSpPr>
        <p:spPr/>
        <p:txBody>
          <a:bodyPr/>
          <a:lstStyle/>
          <a:p>
            <a:fld id="{2C8D56B9-0561-4C33-A9DF-2CC1F354273E}" type="slidenum">
              <a:t>4</a:t>
            </a:fld>
            <a:endParaRPr lang="en-US"/>
          </a:p>
        </p:txBody>
      </p:sp>
    </p:spTree>
    <p:extLst>
      <p:ext uri="{BB962C8B-B14F-4D97-AF65-F5344CB8AC3E}">
        <p14:creationId xmlns:p14="http://schemas.microsoft.com/office/powerpoint/2010/main" val="2011610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https://bayloruganda22-my.sharepoint.com/personal/jmopaman_baylor-uganda_org/_layouts/15/Doc.aspx?sourcedoc=%7BD3163637-F9C4-4D01-9DF1-341E9EA1EA73%7D&amp;file=Opaman_Micaiah_Joshua_OOP_Final%20Examination%20Project%20Proposal.docx&amp;action=default&amp;mobileredirect=true
The primary objectives of the project are to design a modular object-oriented Python application that enables users to record, store, and visualize daily market prices for agricultural products. The application aims to be simple and accessible, suitable for use by farmers, cooperatives, and local traders even in areas with limited internet access. Specific goals include implementing a SQLite-backed storage system, generating trend visualizations using Matplotlib, and providing a reusable codebase with sample data and documentation. These objectives align with the broader goal of empowering users with data-driven insights to improve decision-making and promote fair trade practices.
</a:t>
            </a:r>
          </a:p>
        </p:txBody>
      </p:sp>
      <p:sp>
        <p:nvSpPr>
          <p:cNvPr id="4" name="Slide Number Placeholder 3"/>
          <p:cNvSpPr>
            <a:spLocks noGrp="1"/>
          </p:cNvSpPr>
          <p:nvPr>
            <p:ph type="sldNum" sz="quarter" idx="5"/>
          </p:nvPr>
        </p:nvSpPr>
        <p:spPr/>
        <p:txBody>
          <a:bodyPr/>
          <a:lstStyle/>
          <a:p>
            <a:fld id="{2C8D56B9-0561-4C33-A9DF-2CC1F354273E}" type="slidenum">
              <a:t>5</a:t>
            </a:fld>
            <a:endParaRPr lang="en-US"/>
          </a:p>
        </p:txBody>
      </p:sp>
    </p:spTree>
    <p:extLst>
      <p:ext uri="{BB962C8B-B14F-4D97-AF65-F5344CB8AC3E}">
        <p14:creationId xmlns:p14="http://schemas.microsoft.com/office/powerpoint/2010/main" val="2916075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https://bayloruganda22-my.sharepoint.com/personal/jmopaman_baylor-uganda_org/_layouts/15/Doc.aspx?sourcedoc=%7BD3163637-F9C4-4D01-9DF1-341E9EA1EA73%7D&amp;file=Opaman_Micaiah_Joshua_OOP_Final%20Examination%20Project%20Proposal.docx&amp;action=default&amp;mobileredirect=true
Agriculture employs over 70% of Uganda’s workforce, yet digital tools for market analysis are rarely available at the grassroots level. This project addresses a critical gap by providing a lightweight and user-friendly price tracker that works offline. The tool empowers farmers and traders with actionable insights, helping them make informed decisions and avoid exploitation. It also lays the groundwork for future enhancements such as SMS-based input, integration with local radio broadcasts, and syncing with national market databases. These features make the tool scalable and adaptable to broader contexts, enhancing its real-world applicability.
</a:t>
            </a:r>
          </a:p>
        </p:txBody>
      </p:sp>
      <p:sp>
        <p:nvSpPr>
          <p:cNvPr id="4" name="Slide Number Placeholder 3"/>
          <p:cNvSpPr>
            <a:spLocks noGrp="1"/>
          </p:cNvSpPr>
          <p:nvPr>
            <p:ph type="sldNum" sz="quarter" idx="5"/>
          </p:nvPr>
        </p:nvSpPr>
        <p:spPr/>
        <p:txBody>
          <a:bodyPr/>
          <a:lstStyle/>
          <a:p>
            <a:fld id="{2C8D56B9-0561-4C33-A9DF-2CC1F354273E}" type="slidenum">
              <a:t>6</a:t>
            </a:fld>
            <a:endParaRPr lang="en-US"/>
          </a:p>
        </p:txBody>
      </p:sp>
    </p:spTree>
    <p:extLst>
      <p:ext uri="{BB962C8B-B14F-4D97-AF65-F5344CB8AC3E}">
        <p14:creationId xmlns:p14="http://schemas.microsoft.com/office/powerpoint/2010/main" val="2745646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https://bayloruganda22-my.sharepoint.com/personal/jmopaman_baylor-uganda_org/_layouts/15/Doc.aspx?sourcedoc=%7BD3163637-F9C4-4D01-9DF1-341E9EA1EA73%7D&amp;file=Opaman_Micaiah_Joshua_OOP_Final%20Examination%20Project%20Proposal.docx&amp;action=default&amp;mobileredirect=true
The scope of the project includes developing a Python application with core features such as data entry for daily prices, local data storage using SQLite, trend analysis through visual graphs, product management capabilities, and optional market comparison features. The application is designed to be operated via a command-line interface (CLI), ensuring ease of use and compatibility with low-resource environments. The project also involves generating sample datasets, creating visual outputs, and documenting the system architecture. These components collectively demonstrate the practical application of object-oriented programming principles in solving real-world problems.
</a:t>
            </a:r>
          </a:p>
        </p:txBody>
      </p:sp>
      <p:sp>
        <p:nvSpPr>
          <p:cNvPr id="4" name="Slide Number Placeholder 3"/>
          <p:cNvSpPr>
            <a:spLocks noGrp="1"/>
          </p:cNvSpPr>
          <p:nvPr>
            <p:ph type="sldNum" sz="quarter" idx="5"/>
          </p:nvPr>
        </p:nvSpPr>
        <p:spPr/>
        <p:txBody>
          <a:bodyPr/>
          <a:lstStyle/>
          <a:p>
            <a:fld id="{2C8D56B9-0561-4C33-A9DF-2CC1F354273E}" type="slidenum">
              <a:t>7</a:t>
            </a:fld>
            <a:endParaRPr lang="en-US"/>
          </a:p>
        </p:txBody>
      </p:sp>
    </p:spTree>
    <p:extLst>
      <p:ext uri="{BB962C8B-B14F-4D97-AF65-F5344CB8AC3E}">
        <p14:creationId xmlns:p14="http://schemas.microsoft.com/office/powerpoint/2010/main" val="3107435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https://bayloruganda22-my.sharepoint.com/personal/jmopaman_baylor-uganda_org/_layouts/15/Doc.aspx?sourcedoc=%7BD3163637-F9C4-4D01-9DF1-341E9EA1EA73%7D&amp;file=Opaman_Micaiah_Joshua_OOP_Final%20Examination%20Project%20Proposal.docx&amp;action=default&amp;mobileredirect=true
The project utilizes Python 3.13 as the primary programming language, with several libraries to support its functionality. Pandas is used for data manipulation, Matplotlib for plotting price trends, datetime for handling dates, openpyxl for Excel file support, and sqlite3 for local database storage. The application features a command-line interface (CLI) for user interaction. Additionally, python-docx and python-pptx are employed to generate the project report and presentation slides. These tools and technologies are chosen for their robustness, ease of use, and suitability for offline environments.
</a:t>
            </a:r>
          </a:p>
        </p:txBody>
      </p:sp>
      <p:sp>
        <p:nvSpPr>
          <p:cNvPr id="4" name="Slide Number Placeholder 3"/>
          <p:cNvSpPr>
            <a:spLocks noGrp="1"/>
          </p:cNvSpPr>
          <p:nvPr>
            <p:ph type="sldNum" sz="quarter" idx="5"/>
          </p:nvPr>
        </p:nvSpPr>
        <p:spPr/>
        <p:txBody>
          <a:bodyPr/>
          <a:lstStyle/>
          <a:p>
            <a:fld id="{2C8D56B9-0561-4C33-A9DF-2CC1F354273E}" type="slidenum">
              <a:t>8</a:t>
            </a:fld>
            <a:endParaRPr lang="en-US"/>
          </a:p>
        </p:txBody>
      </p:sp>
    </p:spTree>
    <p:extLst>
      <p:ext uri="{BB962C8B-B14F-4D97-AF65-F5344CB8AC3E}">
        <p14:creationId xmlns:p14="http://schemas.microsoft.com/office/powerpoint/2010/main" val="1623672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https://bayloruganda22-my.sharepoint.com/personal/jmopaman_baylor-uganda_org/_layouts/15/Doc.aspx?sourcedoc=%7BD3163637-F9C4-4D01-9DF1-341E9EA1EA73%7D&amp;file=Opaman_Micaiah_Joshua_OOP_Final%20Examination%20Project%20Proposal.docx&amp;action=default&amp;mobileredirect=true
The system is designed using object-oriented programming principles, featuring classes such as Product, Market, PriceRecord, DatabaseManager, and Plotter. The Product, Market, and PriceRecord classes serve as lightweight data models. The DatabaseManager class encapsulates the SQLite schema, CRUD operations, and time-series queries, while the Plotter class handles data visualization using Pandas and Matplotlib. This modular design ensures code reusability, maintainability, and scalability. A system architecture diagram illustrates the interactions between these components, highlighting the flow of data and the generation of visual outputs.
</a:t>
            </a:r>
          </a:p>
        </p:txBody>
      </p:sp>
      <p:sp>
        <p:nvSpPr>
          <p:cNvPr id="4" name="Slide Number Placeholder 3"/>
          <p:cNvSpPr>
            <a:spLocks noGrp="1"/>
          </p:cNvSpPr>
          <p:nvPr>
            <p:ph type="sldNum" sz="quarter" idx="5"/>
          </p:nvPr>
        </p:nvSpPr>
        <p:spPr/>
        <p:txBody>
          <a:bodyPr/>
          <a:lstStyle/>
          <a:p>
            <a:fld id="{2C8D56B9-0561-4C33-A9DF-2CC1F354273E}" type="slidenum">
              <a:t>9</a:t>
            </a:fld>
            <a:endParaRPr lang="en-US"/>
          </a:p>
        </p:txBody>
      </p:sp>
    </p:spTree>
    <p:extLst>
      <p:ext uri="{BB962C8B-B14F-4D97-AF65-F5344CB8AC3E}">
        <p14:creationId xmlns:p14="http://schemas.microsoft.com/office/powerpoint/2010/main" val="3240973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https://bayloruganda22-my.sharepoint.com/personal/jmopaman_baylor-uganda_org/_layouts/15/Doc.aspx?sourcedoc=%7BD3163637-F9C4-4D01-9DF1-341E9EA1EA73%7D&amp;file=Opaman_Micaiah_Joshua_OOP_Final%20Examination%20Project%20Proposal.docx&amp;action=default&amp;mobileredirect=true
The application includes several key features designed to enhance usability and functionality. Users can add products and markets, record daily prices, and generate trend visualizations. The data is stored locally using SQLite, ensuring offline accessibility. The application also supports market comparison for individual products, allowing users to analyze price variations across different locations. Screenshots of sample charts for commodities like maize and beans demonstrate the tool’s capabilities. These features collectively provide a comprehensive solution for tracking and analyzing agricultural market prices.
</a:t>
            </a:r>
          </a:p>
        </p:txBody>
      </p:sp>
      <p:sp>
        <p:nvSpPr>
          <p:cNvPr id="4" name="Slide Number Placeholder 3"/>
          <p:cNvSpPr>
            <a:spLocks noGrp="1"/>
          </p:cNvSpPr>
          <p:nvPr>
            <p:ph type="sldNum" sz="quarter" idx="5"/>
          </p:nvPr>
        </p:nvSpPr>
        <p:spPr/>
        <p:txBody>
          <a:bodyPr/>
          <a:lstStyle/>
          <a:p>
            <a:fld id="{2C8D56B9-0561-4C33-A9DF-2CC1F354273E}" type="slidenum">
              <a:t>10</a:t>
            </a:fld>
            <a:endParaRPr lang="en-US"/>
          </a:p>
        </p:txBody>
      </p:sp>
    </p:spTree>
    <p:extLst>
      <p:ext uri="{BB962C8B-B14F-4D97-AF65-F5344CB8AC3E}">
        <p14:creationId xmlns:p14="http://schemas.microsoft.com/office/powerpoint/2010/main" val="41287405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https://bayloruganda22-my.sharepoint.com/personal/jmopaman_baylor-uganda_org/_layouts/15/Doc.aspx?sourcedoc=%7BD3163637-F9C4-4D01-9DF1-341E9EA1EA73%7D&amp;file=Opaman_Micaiah_Joshua_OOP_Final%20Examination%20Project%20Proposal.docx&amp;action=default&amp;mobileredirect=true
The expected outcomes of the project include a fully functional Python application that tracks and visualizes market prices for agricultural commodities. The application demonstrates object-oriented design and local data persistence using SQLite. It provides trend charts that reveal short-term fluctuations and weekly patterns, aiding in decision-making. The codebase is modular and reusable, making it suitable for future enhancements such as GUI integration or SMS-based input. The project also includes sample datasets, documentation, and a GitHub repository, ensuring ease of use and accessibility for end users.
</a:t>
            </a:r>
          </a:p>
        </p:txBody>
      </p:sp>
      <p:sp>
        <p:nvSpPr>
          <p:cNvPr id="4" name="Slide Number Placeholder 3"/>
          <p:cNvSpPr>
            <a:spLocks noGrp="1"/>
          </p:cNvSpPr>
          <p:nvPr>
            <p:ph type="sldNum" sz="quarter" idx="5"/>
          </p:nvPr>
        </p:nvSpPr>
        <p:spPr/>
        <p:txBody>
          <a:bodyPr/>
          <a:lstStyle/>
          <a:p>
            <a:fld id="{2C8D56B9-0561-4C33-A9DF-2CC1F354273E}" type="slidenum">
              <a:t>11</a:t>
            </a:fld>
            <a:endParaRPr lang="en-US"/>
          </a:p>
        </p:txBody>
      </p:sp>
    </p:spTree>
    <p:extLst>
      <p:ext uri="{BB962C8B-B14F-4D97-AF65-F5344CB8AC3E}">
        <p14:creationId xmlns:p14="http://schemas.microsoft.com/office/powerpoint/2010/main" val="18829372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https://bayloruganda22-my.sharepoint.com/personal/jmopaman_baylor-uganda_org/_layouts/15/Doc.aspx?sourcedoc=%7BD3163637-F9C4-4D01-9DF1-341E9EA1EA73%7D&amp;file=Opaman_Micaiah_Joshua_OOP_Final%20Examination%20Project%20Proposal.docx&amp;action=default&amp;mobileredirect=true
Future enhancements for the application include support for CSV and Excel import/export, scheduled data entry, user roles and authentication for cooperatives, SMS/USSD input for low-end phones, and API integration with national market datasets. Alerting features such as price thresholds and anomaly detection are also planned. In conclusion, the project successfully demonstrates the application of object-oriented programming principles in solving a real-world problem. It provides a practical, offline-capable solution for tracking agricultural market prices, empowering users with data-driven insights and promoting fair trade practices.
</a:t>
            </a:r>
          </a:p>
        </p:txBody>
      </p:sp>
      <p:sp>
        <p:nvSpPr>
          <p:cNvPr id="4" name="Slide Number Placeholder 3"/>
          <p:cNvSpPr>
            <a:spLocks noGrp="1"/>
          </p:cNvSpPr>
          <p:nvPr>
            <p:ph type="sldNum" sz="quarter" idx="5"/>
          </p:nvPr>
        </p:nvSpPr>
        <p:spPr/>
        <p:txBody>
          <a:bodyPr/>
          <a:lstStyle/>
          <a:p>
            <a:fld id="{2C8D56B9-0561-4C33-A9DF-2CC1F354273E}" type="slidenum">
              <a:t>12</a:t>
            </a:fld>
            <a:endParaRPr lang="en-US"/>
          </a:p>
        </p:txBody>
      </p:sp>
    </p:spTree>
    <p:extLst>
      <p:ext uri="{BB962C8B-B14F-4D97-AF65-F5344CB8AC3E}">
        <p14:creationId xmlns:p14="http://schemas.microsoft.com/office/powerpoint/2010/main" val="39706400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395357C0-6E0D-46EB-9F8F-43803F348F24}" type="datetime1">
              <a:rPr lang="en-US" smtClean="0"/>
              <a:t>11/4/2025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DD84031F-D6BF-4677-B12E-7D8B88BA70F7}" type="slidenum">
              <a:rPr lang="en-US" smtClean="0"/>
              <a:t>‹#›</a:t>
            </a:fld>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73085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C889C35-F31B-4EAB-A4E6-687A63844314}"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53431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anchor="t">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a:lstStyle>
            <a:lvl1pPr>
              <a:defRPr>
                <a:solidFill>
                  <a:schemeClr val="bg1">
                    <a:alpha val="60000"/>
                  </a:schemeClr>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AAD51419-3F0D-4A1E-BC8B-A018756B4625}" type="datetime1">
              <a:rPr lang="en-US" smtClean="0"/>
              <a:t>11/4/2025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557031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r>
              <a:rPr lang="en-US" dirty="0"/>
              <a:t>Sample Footer Text</a:t>
            </a:r>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DB416C6F-BD23-48A3-9D04-6B6FEC3702B5}" type="datetime1">
              <a:rPr lang="en-US" smtClean="0"/>
              <a:t>11/4/2025</a:t>
            </a:fld>
            <a:endParaRPr lang="en-US"/>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2039840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anchor="b">
            <a:normAutofit/>
          </a:bodyPr>
          <a:lstStyle>
            <a:lvl1pPr>
              <a:defRPr sz="4800">
                <a:solidFill>
                  <a:schemeClr val="tx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7">
            <a:extLst>
              <a:ext uri="{FF2B5EF4-FFF2-40B4-BE49-F238E27FC236}">
                <a16:creationId xmlns:a16="http://schemas.microsoft.com/office/drawing/2014/main" id="{3F256503-7989-932D-DE04-B424AC0B97DF}"/>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623E99C9-C336-E83E-56A6-D68659547CAF}"/>
              </a:ext>
            </a:extLst>
          </p:cNvPr>
          <p:cNvSpPr>
            <a:spLocks noGrp="1"/>
          </p:cNvSpPr>
          <p:nvPr>
            <p:ph type="dt" sz="half" idx="14"/>
          </p:nvPr>
        </p:nvSpPr>
        <p:spPr/>
        <p:txBody>
          <a:bodyPr/>
          <a:lstStyle/>
          <a:p>
            <a:fld id="{C135F28A-0986-4E7B-B35D-341D39FBD191}" type="datetime1">
              <a:rPr lang="en-US" smtClean="0"/>
              <a:t>11/4/2025</a:t>
            </a:fld>
            <a:endParaRPr lang="en-US"/>
          </a:p>
        </p:txBody>
      </p:sp>
      <p:sp>
        <p:nvSpPr>
          <p:cNvPr id="10" name="Slide Number Placeholder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06628390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DD9686BE-81E0-4285-A95D-6934CDF6209E}" type="datetime1">
              <a:rPr lang="en-US" smtClean="0"/>
              <a:t>11/4/2025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93275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EB464E07-DAE2-4D6D-BDD9-1CE7637F446D}" type="datetime1">
              <a:rPr lang="en-US" smtClean="0"/>
              <a:t>11/4/2025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575217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1"/>
                </a:solidFill>
              </a:defRPr>
            </a:lvl1pPr>
          </a:lstStyle>
          <a:p>
            <a:fld id="{531D259D-9AB9-44BA-8FCD-FE201F91B5A0}" type="datetime1">
              <a:rPr lang="en-US" smtClean="0"/>
              <a:t>11/4/2025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37004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74EB0658-C877-4D58-A83B-07BEE0E4C7B4}" type="datetime1">
              <a:rPr lang="en-US" smtClean="0"/>
              <a:t>11/4/2025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054319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95056F1-F5E2-4ED8-9ED2-B4DCC32FE4B1}" type="datetime1">
              <a:rPr lang="en-US" smtClean="0"/>
              <a:t>11/4/2025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9437368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Agenda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87333073-65C1-4CC7-BBE7-8F5A3AFB183B}" type="datetime1">
              <a:rPr lang="en-US" smtClean="0"/>
              <a:t>11/4/2025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DD84031F-D6BF-4677-B12E-7D8B88BA70F7}" type="slidenum">
              <a:rPr lang="en-US" smtClean="0"/>
              <a:t>‹#›</a:t>
            </a:fld>
            <a:endParaRPr lang="en-US"/>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403411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anchor="t">
            <a:normAutofit/>
          </a:bodyPr>
          <a:lstStyle>
            <a:lvl1pPr>
              <a:defRPr sz="5400">
                <a:solidFill>
                  <a:schemeClr val="accent1"/>
                </a:solidFill>
              </a:defRPr>
            </a:lvl1pPr>
          </a:lstStyle>
          <a:p>
            <a:r>
              <a:rPr lang="en-US"/>
              <a:t>Click to edit Master title style</a:t>
            </a:r>
            <a:endParaRPr lang="en-US" dirty="0"/>
          </a:p>
        </p:txBody>
      </p:sp>
      <p:sp>
        <p:nvSpPr>
          <p:cNvPr id="8" name="Picture Placeholder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E872102-C255-4B2E-9A7E-2603C5FAD6D4}" type="datetime1">
              <a:rPr lang="en-US" smtClean="0"/>
              <a:t>11/4/2025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967327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Content 2">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anchor="b"/>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070A7D6-92E1-4CDF-BD2F-79F298197135}"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46939668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FBEE3B3-6EA8-4914-BDAC-89234BD2AD09}"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249717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Content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2BB48EB-6AF5-4207-A153-D1AA963F0AC1}"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077197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C0016614-595C-443F-AE20-86D2AC6A0013}"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888638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7FC8A85-8FD1-45F0-99DE-E338DC5235BC}"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93460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92DEB38-22AD-484B-BEB1-12B18D8CEE64}"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058899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en-US"/>
              <a:t>Click to edit Master title style</a:t>
            </a:r>
            <a:endParaRPr lang="en-US" dirty="0"/>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957C2DDA-91DD-4B15-B0D6-0E3634C6CC2A}"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04815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217B7B5-5BBE-40BC-B471-E2BA9D71AA0E}"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481558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F607E7C-B760-45A7-AB98-EEAB39EBFFA9}"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881753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C4680711-5BFA-4199-BAD0-B0C15B04A070}"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119364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0C9332B-92F1-4946-B218-9926114AAEA1}"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9781712"/>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2F630AA-266B-4EED-8F37-1EEA7BB36798}"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773066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a:lstStyle/>
          <a:p>
            <a:fld id="{A2E4BA8A-8D99-4942-A6AE-3429BB81C9B0}"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7635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r>
              <a:rPr lang="en-US" dirty="0"/>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BCB8B90-98AD-44EA-88CB-87E0482D47C5}"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169559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en-US"/>
              <a:t>Click to edit Master title style</a:t>
            </a:r>
            <a:endParaRPr lang="en-US" dirty="0"/>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r>
              <a:rPr lang="en-US"/>
              <a:t>Sample Footer Text</a:t>
            </a:r>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0672E3CE-9562-4779-875D-570AC5656D0F}" type="datetime1">
              <a:rPr lang="en-US" smtClean="0"/>
              <a:t>11/4/2025</a:t>
            </a:fld>
            <a:endParaRPr lang="en-US"/>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140144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4D8B86-78FA-4747-9401-2399B1893341}"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839580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5ECC63D-CDB3-4317-A945-BF72F7BF98EB}"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84421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r>
              <a:rPr lang="en-US" dirty="0"/>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1B6FEA0-B839-4598-B2DD-445068A8396C}"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46285324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024032-45C2-4C36-A7D1-3A3BD65AF0CF}"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69656087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70D67178-055F-49DC-969F-AB374B7A5758}"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4565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BAA5E08-9FB8-6BC2-0794-A92E1336B939}"/>
              </a:ext>
            </a:extLst>
          </p:cNvPr>
          <p:cNvSpPr>
            <a:spLocks noGrp="1"/>
          </p:cNvSpPr>
          <p:nvPr>
            <p:ph type="ftr" sz="quarter" idx="15"/>
          </p:nvPr>
        </p:nvSpPr>
        <p:spPr/>
        <p:txBody>
          <a:bodyPr/>
          <a:lstStyle/>
          <a:p>
            <a:r>
              <a:rPr lang="en-US" dirty="0"/>
              <a:t>Sample Footer Text</a:t>
            </a:r>
          </a:p>
        </p:txBody>
      </p:sp>
      <p:sp>
        <p:nvSpPr>
          <p:cNvPr id="8" name="Date Placeholder 7">
            <a:extLst>
              <a:ext uri="{FF2B5EF4-FFF2-40B4-BE49-F238E27FC236}">
                <a16:creationId xmlns:a16="http://schemas.microsoft.com/office/drawing/2014/main" id="{17819C0A-5C58-B9A1-EDD9-43A971A8DE10}"/>
              </a:ext>
            </a:extLst>
          </p:cNvPr>
          <p:cNvSpPr>
            <a:spLocks noGrp="1"/>
          </p:cNvSpPr>
          <p:nvPr>
            <p:ph type="dt" sz="half" idx="14"/>
          </p:nvPr>
        </p:nvSpPr>
        <p:spPr/>
        <p:txBody>
          <a:bodyPr/>
          <a:lstStyle/>
          <a:p>
            <a:fld id="{85436D6D-18C4-497A-81D8-87B6E0BF7395}" type="datetime1">
              <a:rPr lang="en-US" smtClean="0"/>
              <a:t>11/4/2025</a:t>
            </a:fld>
            <a:endParaRPr lang="en-US"/>
          </a:p>
        </p:txBody>
      </p:sp>
      <p:sp>
        <p:nvSpPr>
          <p:cNvPr id="11" name="Slide Number Placeholder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303361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1CE585B-D50B-46C7-90D5-F8C248FB96B3}" type="datetime1">
              <a:rPr lang="en-US" smtClean="0"/>
              <a:t>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58075274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r>
              <a:rPr lang="en-US"/>
              <a:t>Sample Footer Text</a:t>
            </a:r>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BFA9687D-6191-4AD9-82A2-1B737232915B}" type="datetime1">
              <a:rPr lang="en-US" smtClean="0"/>
              <a:t>11/4/2025</a:t>
            </a:fld>
            <a:endParaRPr lang="en-US"/>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40639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dirty="0"/>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r>
              <a:rPr lang="en-US"/>
              <a:t>Sample Footer Text</a:t>
            </a:r>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5F2E741A-92DD-45DF-8212-2D8EB227508B}" type="datetime1">
              <a:rPr lang="en-US" smtClean="0"/>
              <a:t>11/4/2025</a:t>
            </a:fld>
            <a:endParaRPr lang="en-US"/>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572933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dirty="0"/>
              <a:t>##%</a:t>
            </a:r>
          </a:p>
        </p:txBody>
      </p:sp>
      <p:sp>
        <p:nvSpPr>
          <p:cNvPr id="10" name="Footer Placeholder 9">
            <a:extLst>
              <a:ext uri="{FF2B5EF4-FFF2-40B4-BE49-F238E27FC236}">
                <a16:creationId xmlns:a16="http://schemas.microsoft.com/office/drawing/2014/main" id="{897B8847-6473-457E-E96C-6389E70595B5}"/>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9" name="Date Placeholder 8">
            <a:extLst>
              <a:ext uri="{FF2B5EF4-FFF2-40B4-BE49-F238E27FC236}">
                <a16:creationId xmlns:a16="http://schemas.microsoft.com/office/drawing/2014/main" id="{397385FA-3FF0-FCCA-55E3-8E053BA2CA47}"/>
              </a:ext>
            </a:extLst>
          </p:cNvPr>
          <p:cNvSpPr>
            <a:spLocks noGrp="1"/>
          </p:cNvSpPr>
          <p:nvPr>
            <p:ph type="dt" sz="half" idx="14"/>
          </p:nvPr>
        </p:nvSpPr>
        <p:spPr/>
        <p:txBody>
          <a:bodyPr/>
          <a:lstStyle>
            <a:lvl1pPr>
              <a:defRPr>
                <a:solidFill>
                  <a:schemeClr val="tx1"/>
                </a:solidFill>
              </a:defRPr>
            </a:lvl1pPr>
          </a:lstStyle>
          <a:p>
            <a:fld id="{613F8E84-C221-42E2-A88F-FC6CBC7F05E7}" type="datetime1">
              <a:rPr lang="en-US" smtClean="0"/>
              <a:t>11/4/2025</a:t>
            </a:fld>
            <a:endParaRPr lang="en-US"/>
          </a:p>
        </p:txBody>
      </p:sp>
      <p:sp>
        <p:nvSpPr>
          <p:cNvPr id="11" name="Slide Number Placeholder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053202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a:r>
              <a:rPr lang="en-US" dirty="0"/>
              <a:t>##%</a:t>
            </a:r>
          </a:p>
        </p:txBody>
      </p:sp>
      <p:sp>
        <p:nvSpPr>
          <p:cNvPr id="11" name="Footer Placeholder 10">
            <a:extLst>
              <a:ext uri="{FF2B5EF4-FFF2-40B4-BE49-F238E27FC236}">
                <a16:creationId xmlns:a16="http://schemas.microsoft.com/office/drawing/2014/main" id="{446459C9-E9DA-926C-F0C0-5EEDE6960776}"/>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C1D02E87-8057-8AC7-6F57-2066BA1BC9B7}"/>
              </a:ext>
            </a:extLst>
          </p:cNvPr>
          <p:cNvSpPr>
            <a:spLocks noGrp="1"/>
          </p:cNvSpPr>
          <p:nvPr>
            <p:ph type="dt" sz="half" idx="14"/>
          </p:nvPr>
        </p:nvSpPr>
        <p:spPr/>
        <p:txBody>
          <a:bodyPr/>
          <a:lstStyle/>
          <a:p>
            <a:fld id="{34DFD6AF-0F92-4F71-9576-F6847C4CFE31}" type="datetime1">
              <a:rPr lang="en-US" smtClean="0"/>
              <a:t>11/4/2025</a:t>
            </a:fld>
            <a:endParaRPr lang="en-US"/>
          </a:p>
        </p:txBody>
      </p:sp>
      <p:sp>
        <p:nvSpPr>
          <p:cNvPr id="12" name="Slide Number Placeholder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080399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tatement">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028211E3-7798-4C1B-A8B7-1D4CC8744C3E}" type="datetime1">
              <a:rPr lang="en-US" smtClean="0"/>
              <a:t>11/4/2025</a:t>
            </a:fld>
            <a:endParaRPr lang="en-US"/>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pPr/>
              <a:t>‹#›</a:t>
            </a:fld>
            <a:endParaRPr lang="en-US"/>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9496999"/>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a:lnSpc>
                <a:spcPct val="90000"/>
              </a:lnSpc>
              <a:spcBef>
                <a:spcPct val="0"/>
              </a:spcBef>
            </a:pPr>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D89B1FA-A3A2-4EEE-AC52-74345FF796E0}" type="datetime1">
              <a:rPr lang="en-US" smtClean="0"/>
              <a:t>11/4/2025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507064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CB0E27F-4DA4-4250-AB3F-755F95A702F0}" type="datetime1">
              <a:rPr lang="en-US" smtClean="0"/>
              <a:t>11/4/2025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0622123"/>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dirty="0"/>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281718C3-C21D-4CB2-9429-434651DA51E0}" type="datetime1">
              <a:rPr lang="en-US" smtClean="0"/>
              <a:t>11/4/2025</a:t>
            </a:fld>
            <a:endParaRPr lang="en-US"/>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344168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anchor="t">
            <a:normAutofit/>
          </a:bodyPr>
          <a:lstStyle>
            <a:lvl1pPr marL="0" indent="0">
              <a:lnSpc>
                <a:spcPct val="100000"/>
              </a:lnSpc>
              <a:defRPr sz="2000" cap="all" baseline="0">
                <a:solidFill>
                  <a:schemeClr val="tx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a:r>
              <a:rPr lang="en-US" dirty="0"/>
              <a:t>Click to edit quote</a:t>
            </a:r>
          </a:p>
        </p:txBody>
      </p:sp>
      <p:sp>
        <p:nvSpPr>
          <p:cNvPr id="11" name="Footer Placeholder 10">
            <a:extLst>
              <a:ext uri="{FF2B5EF4-FFF2-40B4-BE49-F238E27FC236}">
                <a16:creationId xmlns:a16="http://schemas.microsoft.com/office/drawing/2014/main" id="{BB573913-DF3D-A336-7766-2F2A4077FA24}"/>
              </a:ext>
            </a:extLst>
          </p:cNvPr>
          <p:cNvSpPr>
            <a:spLocks noGrp="1"/>
          </p:cNvSpPr>
          <p:nvPr>
            <p:ph type="ftr" sz="quarter" idx="15"/>
          </p:nvPr>
        </p:nvSpPr>
        <p:spPr/>
        <p:txBody>
          <a:bodyPr/>
          <a:lstStyle/>
          <a:p>
            <a:r>
              <a:rPr lang="en-US"/>
              <a:t>Sample Footer Text</a:t>
            </a:r>
          </a:p>
        </p:txBody>
      </p:sp>
      <p:sp>
        <p:nvSpPr>
          <p:cNvPr id="10" name="Date Placeholder 9">
            <a:extLst>
              <a:ext uri="{FF2B5EF4-FFF2-40B4-BE49-F238E27FC236}">
                <a16:creationId xmlns:a16="http://schemas.microsoft.com/office/drawing/2014/main" id="{82574524-6D35-F65F-291D-C661BC2839A9}"/>
              </a:ext>
            </a:extLst>
          </p:cNvPr>
          <p:cNvSpPr>
            <a:spLocks noGrp="1"/>
          </p:cNvSpPr>
          <p:nvPr>
            <p:ph type="dt" sz="half" idx="14"/>
          </p:nvPr>
        </p:nvSpPr>
        <p:spPr/>
        <p:txBody>
          <a:bodyPr/>
          <a:lstStyle/>
          <a:p>
            <a:fld id="{EF484BAB-BC70-496F-BE5F-77C3800258C1}" type="datetime1">
              <a:rPr lang="en-US" smtClean="0"/>
              <a:t>11/4/2025</a:t>
            </a:fld>
            <a:endParaRPr lang="en-US"/>
          </a:p>
        </p:txBody>
      </p:sp>
      <p:sp>
        <p:nvSpPr>
          <p:cNvPr id="12" name="Slide Number Placeholder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160767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Quot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anchor="ctr">
            <a:normAutofit/>
          </a:bodyPr>
          <a:lstStyle>
            <a:lvl1pPr marL="137160" indent="-137160" algn="ctr">
              <a:lnSpc>
                <a:spcPct val="110000"/>
              </a:lnSpc>
              <a:defRPr sz="1800" cap="none" baseline="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9245940F-B015-464A-92BD-FC8709C093C5}" type="datetime1">
              <a:rPr lang="en-US" smtClean="0"/>
              <a:t>11/4/2025</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378884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anchor="ctr">
            <a:normAutofit/>
          </a:bodyPr>
          <a:lstStyle>
            <a:lvl1pPr marL="137160" indent="-137160" algn="ctr">
              <a:lnSpc>
                <a:spcPct val="100000"/>
              </a:lnSpc>
              <a:defRPr sz="1800" cap="all" baseline="0">
                <a:solidFill>
                  <a:schemeClr val="tx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E6C2023-0583-4B96-882C-68D22DCD46B6}" type="datetime1">
              <a:rPr lang="en-US" smtClean="0"/>
              <a:t>11/4/2025</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0" name="Straight Connector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71770"/>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504A9F1-814E-44B0-83E3-9DA02F3C243F}" type="datetime1">
              <a:rPr lang="en-US" smtClean="0"/>
              <a:t>11/4/2025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0139848"/>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DF15078-AEDD-4B5A-AC6A-C8F87F9646E7}" type="datetime1">
              <a:rPr lang="en-US" smtClean="0"/>
              <a:t>11/4/2025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801313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51B2758D-8EE6-4CC5-A170-BE9501D7BCFF}" type="datetime1">
              <a:rPr lang="en-US" smtClean="0"/>
              <a:t>11/4/2025</a:t>
            </a:fld>
            <a:endParaRPr lang="en-US"/>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15494639"/>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0FCB484E-FEE6-4572-A5E5-40AFA2254CF8}" type="datetime1">
              <a:rPr lang="en-US" smtClean="0"/>
              <a:t>11/4/2025</a:t>
            </a:fld>
            <a:endParaRPr lang="en-US"/>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77609724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anchor="t"/>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p:txBody>
          <a:bodyPr/>
          <a:lstStyle/>
          <a:p>
            <a:fld id="{A57FC195-9048-4969-9920-6939BE28AE8D}" type="datetime1">
              <a:rPr lang="en-US" smtClean="0"/>
              <a:t>11/4/2025</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27549529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anchor="t"/>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dirty="0"/>
              <a:t> </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p:txBody>
          <a:bodyPr/>
          <a:lstStyle/>
          <a:p>
            <a:fld id="{8CCE6180-3A1B-4424-AB9F-671C4EBC0A2E}" type="datetime1">
              <a:rPr lang="en-US" smtClean="0"/>
              <a:t>11/4/2025</a:t>
            </a:fld>
            <a:endParaRPr lang="en-US" dirty="0"/>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DD84031F-D6BF-4677-B12E-7D8B88BA70F7}" type="slidenum">
              <a:rPr lang="en-US" smtClean="0"/>
              <a:t>‹#›</a:t>
            </a:fld>
            <a:endParaRPr lang="en-US" dirty="0"/>
          </a:p>
        </p:txBody>
      </p:sp>
      <p:cxnSp>
        <p:nvCxnSpPr>
          <p:cNvPr id="9" name="Straight Connector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757598"/>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C22330-A382-475A-8519-6A39191EC88E}" type="datetime1">
              <a:rPr lang="en-US" smtClean="0"/>
              <a:t>11/4/2025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695223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E20DC0D-99C6-4F09-90C7-C0EC6E2F0A06}" type="datetime1">
              <a:rPr lang="en-US" smtClean="0"/>
              <a:t>11/4/2025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210519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ECD290D4-E5CF-428F-801F-3741FA4FB792}" type="datetime1">
              <a:rPr lang="en-US" smtClean="0"/>
              <a:t>11/4/2025</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DD84031F-D6BF-4677-B12E-7D8B88BA70F7}" type="slidenum">
              <a:rPr lang="en-US" smtClean="0"/>
              <a:t>‹#›</a:t>
            </a:fld>
            <a:endParaRPr lang="en-US" dirty="0"/>
          </a:p>
        </p:txBody>
      </p:sp>
    </p:spTree>
    <p:extLst>
      <p:ext uri="{BB962C8B-B14F-4D97-AF65-F5344CB8AC3E}">
        <p14:creationId xmlns:p14="http://schemas.microsoft.com/office/powerpoint/2010/main" val="6577327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79E06-1C2C-76FC-B660-656CBFE6F863}"/>
              </a:ext>
            </a:extLst>
          </p:cNvPr>
          <p:cNvSpPr>
            <a:spLocks noGrp="1"/>
          </p:cNvSpPr>
          <p:nvPr>
            <p:ph type="title"/>
          </p:nvPr>
        </p:nvSpPr>
        <p:spPr>
          <a:xfrm>
            <a:off x="429901" y="5056743"/>
            <a:ext cx="11339400" cy="966902"/>
          </a:xfrm>
        </p:spPr>
        <p:txBody>
          <a:bodyPr anchor="b">
            <a:normAutofit/>
          </a:bodyPr>
          <a:lstStyle/>
          <a:p>
            <a:r>
              <a:rPr lang="en-US" sz="3000"/>
              <a:t>Local Market Price Tracker for Agricultural Commodities in Uganda</a:t>
            </a:r>
          </a:p>
        </p:txBody>
      </p:sp>
      <p:pic>
        <p:nvPicPr>
          <p:cNvPr id="4" name="Picture 3" descr="Eten, vis, groente en fruit in de souk van Koeweit">
            <a:extLst>
              <a:ext uri="{FF2B5EF4-FFF2-40B4-BE49-F238E27FC236}">
                <a16:creationId xmlns:a16="http://schemas.microsoft.com/office/drawing/2014/main" id="{0401F2AD-2CCA-430F-94D2-9BC744EBEF8F}"/>
              </a:ext>
            </a:extLst>
          </p:cNvPr>
          <p:cNvPicPr>
            <a:picLocks noChangeAspect="1"/>
          </p:cNvPicPr>
          <p:nvPr/>
        </p:nvPicPr>
        <p:blipFill>
          <a:blip r:embed="rId3"/>
          <a:srcRect t="15430" b="30645"/>
          <a:stretch>
            <a:fillRect/>
          </a:stretch>
        </p:blipFill>
        <p:spPr>
          <a:xfrm>
            <a:off x="20" y="10"/>
            <a:ext cx="12191980" cy="4930902"/>
          </a:xfrm>
          <a:prstGeom prst="rect">
            <a:avLst/>
          </a:prstGeom>
          <a:noFill/>
          <a:effectLst>
            <a:outerShdw blurRad="203200" dist="12700" dir="7800000" algn="r" rotWithShape="0">
              <a:prstClr val="black">
                <a:alpha val="10000"/>
              </a:prstClr>
            </a:outerShdw>
          </a:effectLst>
        </p:spPr>
      </p:pic>
      <p:sp>
        <p:nvSpPr>
          <p:cNvPr id="3" name="Subtitle 2">
            <a:extLst>
              <a:ext uri="{FF2B5EF4-FFF2-40B4-BE49-F238E27FC236}">
                <a16:creationId xmlns:a16="http://schemas.microsoft.com/office/drawing/2014/main" id="{AD6AD795-B40E-F490-C826-830A71F26D6E}"/>
              </a:ext>
            </a:extLst>
          </p:cNvPr>
          <p:cNvSpPr>
            <a:spLocks noGrp="1"/>
          </p:cNvSpPr>
          <p:nvPr>
            <p:ph type="body" idx="1"/>
          </p:nvPr>
        </p:nvSpPr>
        <p:spPr>
          <a:xfrm>
            <a:off x="429902" y="5979576"/>
            <a:ext cx="11339400" cy="365126"/>
          </a:xfrm>
        </p:spPr>
        <p:txBody>
          <a:bodyPr anchor="t">
            <a:normAutofit/>
          </a:bodyPr>
          <a:lstStyle/>
          <a:p>
            <a:pPr>
              <a:lnSpc>
                <a:spcPct val="110000"/>
              </a:lnSpc>
            </a:pPr>
            <a:r>
              <a:rPr lang="en-US" sz="1700"/>
              <a:t>Monitoring price trends to support farmers and traders</a:t>
            </a:r>
          </a:p>
        </p:txBody>
      </p:sp>
    </p:spTree>
    <p:extLst>
      <p:ext uri="{BB962C8B-B14F-4D97-AF65-F5344CB8AC3E}">
        <p14:creationId xmlns:p14="http://schemas.microsoft.com/office/powerpoint/2010/main" val="3828543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59237-2C4B-3778-7C84-32E7BE537DBE}"/>
              </a:ext>
            </a:extLst>
          </p:cNvPr>
          <p:cNvSpPr>
            <a:spLocks noGrp="1"/>
          </p:cNvSpPr>
          <p:nvPr>
            <p:ph type="title"/>
          </p:nvPr>
        </p:nvSpPr>
        <p:spPr>
          <a:xfrm>
            <a:off x="426997" y="3018408"/>
            <a:ext cx="8961120" cy="3247475"/>
          </a:xfrm>
        </p:spPr>
        <p:txBody>
          <a:bodyPr anchor="b">
            <a:normAutofit/>
          </a:bodyPr>
          <a:lstStyle/>
          <a:p>
            <a:r>
              <a:rPr lang="en-US"/>
              <a:t>Project Overview</a:t>
            </a:r>
          </a:p>
        </p:txBody>
      </p:sp>
    </p:spTree>
    <p:extLst>
      <p:ext uri="{BB962C8B-B14F-4D97-AF65-F5344CB8AC3E}">
        <p14:creationId xmlns:p14="http://schemas.microsoft.com/office/powerpoint/2010/main" val="39487716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F6DBD-23DC-45ED-64A1-6840D5C3E9EA}"/>
              </a:ext>
            </a:extLst>
          </p:cNvPr>
          <p:cNvSpPr>
            <a:spLocks noGrp="1"/>
          </p:cNvSpPr>
          <p:nvPr>
            <p:ph type="title"/>
          </p:nvPr>
        </p:nvSpPr>
        <p:spPr>
          <a:xfrm>
            <a:off x="8029814" y="512011"/>
            <a:ext cx="3628786" cy="1259920"/>
          </a:xfrm>
        </p:spPr>
        <p:txBody>
          <a:bodyPr anchor="b">
            <a:normAutofit/>
          </a:bodyPr>
          <a:lstStyle/>
          <a:p>
            <a:r>
              <a:rPr lang="en-US"/>
              <a:t>Title &amp; Student Info</a:t>
            </a:r>
          </a:p>
        </p:txBody>
      </p:sp>
      <p:pic>
        <p:nvPicPr>
          <p:cNvPr id="5" name="Content Placeholder 4" descr="Digital Abstract Artificial Inteligence and Business Background Concept">
            <a:extLst>
              <a:ext uri="{FF2B5EF4-FFF2-40B4-BE49-F238E27FC236}">
                <a16:creationId xmlns:a16="http://schemas.microsoft.com/office/drawing/2014/main" id="{6A9F4CA8-BBCD-4E57-B38B-D4819629A5E3}"/>
              </a:ext>
            </a:extLst>
          </p:cNvPr>
          <p:cNvPicPr>
            <a:picLocks noGrp="1" noChangeAspect="1"/>
          </p:cNvPicPr>
          <p:nvPr>
            <p:ph type="pic" sz="quarter" idx="13"/>
          </p:nvPr>
        </p:nvPicPr>
        <p:blipFill>
          <a:blip r:embed="rId3"/>
          <a:srcRect l="12613" r="18555" b="1"/>
          <a:stretch>
            <a:fillRect/>
          </a:stretch>
        </p:blipFill>
        <p:spPr>
          <a:xfrm>
            <a:off x="533400" y="533399"/>
            <a:ext cx="7086600" cy="5791199"/>
          </a:xfrm>
          <a:prstGeom prst="rect">
            <a:avLst/>
          </a:prstGeom>
          <a:noFill/>
        </p:spPr>
      </p:pic>
      <p:sp>
        <p:nvSpPr>
          <p:cNvPr id="4" name="Content Placeholder 3">
            <a:extLst>
              <a:ext uri="{FF2B5EF4-FFF2-40B4-BE49-F238E27FC236}">
                <a16:creationId xmlns:a16="http://schemas.microsoft.com/office/drawing/2014/main" id="{976151BE-D73B-900F-25AA-945F7657642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3065" y="2170611"/>
            <a:ext cx="3628786" cy="4162372"/>
          </a:xfrm>
        </p:spPr>
        <p:txBody>
          <a:bodyPr>
            <a:normAutofit/>
          </a:bodyPr>
          <a:lstStyle/>
          <a:p>
            <a:pPr marL="0" indent="0">
              <a:spcBef>
                <a:spcPts val="2500"/>
              </a:spcBef>
              <a:buFont typeface="Arial" panose="020B0604020202020204" pitchFamily="34" charset="0"/>
              <a:buNone/>
            </a:pPr>
            <a:r>
              <a:rPr lang="en-US" b="1"/>
              <a:t>Project Overview</a:t>
            </a:r>
          </a:p>
          <a:p>
            <a:pPr marL="0" lvl="1" indent="0">
              <a:buFont typeface="Arial" panose="020B0604020202020204" pitchFamily="34" charset="0"/>
              <a:buNone/>
            </a:pPr>
            <a:r>
              <a:t>The project tracks agricultural commodity prices to help farmers and traders access reliable market data.</a:t>
            </a:r>
            <a:endParaRPr lang="en-US"/>
          </a:p>
          <a:p>
            <a:pPr marL="0" indent="0">
              <a:spcBef>
                <a:spcPts val="2500"/>
              </a:spcBef>
              <a:buFont typeface="Arial" panose="020B0604020202020204" pitchFamily="34" charset="0"/>
              <a:buNone/>
            </a:pPr>
            <a:r>
              <a:rPr lang="en-US" b="1"/>
              <a:t>Student Information</a:t>
            </a:r>
          </a:p>
          <a:p>
            <a:pPr marL="0" lvl="1" indent="0">
              <a:buFont typeface="Arial" panose="020B0604020202020204" pitchFamily="34" charset="0"/>
              <a:buNone/>
            </a:pPr>
            <a:r>
              <a:t>Developed by Opaman Micaiah Joshua for an Object-Oriented Programming with Python course.</a:t>
            </a:r>
            <a:endParaRPr lang="en-US"/>
          </a:p>
          <a:p>
            <a:pPr marL="0" indent="0">
              <a:spcBef>
                <a:spcPts val="2500"/>
              </a:spcBef>
              <a:buFont typeface="Arial" panose="020B0604020202020204" pitchFamily="34" charset="0"/>
              <a:buNone/>
            </a:pPr>
            <a:r>
              <a:rPr lang="en-US" b="1"/>
              <a:t>Technical Approach</a:t>
            </a:r>
          </a:p>
          <a:p>
            <a:pPr marL="0" lvl="1" indent="0">
              <a:buFont typeface="Arial" panose="020B0604020202020204" pitchFamily="34" charset="0"/>
              <a:buNone/>
            </a:pPr>
            <a:r>
              <a:t>Uses Python's object-oriented programming concepts to build a robust and accessible tool.</a:t>
            </a:r>
            <a:endParaRPr lang="en-US"/>
          </a:p>
        </p:txBody>
      </p:sp>
    </p:spTree>
    <p:extLst>
      <p:ext uri="{BB962C8B-B14F-4D97-AF65-F5344CB8AC3E}">
        <p14:creationId xmlns:p14="http://schemas.microsoft.com/office/powerpoint/2010/main" val="14684018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6EB86-F03F-833C-7396-CE3963886D39}"/>
              </a:ext>
            </a:extLst>
          </p:cNvPr>
          <p:cNvSpPr>
            <a:spLocks noGrp="1"/>
          </p:cNvSpPr>
          <p:nvPr>
            <p:ph type="title"/>
          </p:nvPr>
        </p:nvSpPr>
        <p:spPr>
          <a:xfrm>
            <a:off x="4848555" y="512011"/>
            <a:ext cx="6792069" cy="1259920"/>
          </a:xfrm>
        </p:spPr>
        <p:txBody>
          <a:bodyPr anchor="b">
            <a:normAutofit/>
          </a:bodyPr>
          <a:lstStyle/>
          <a:p>
            <a:r>
              <a:rPr lang="en-US"/>
              <a:t>Problem Statement</a:t>
            </a:r>
          </a:p>
        </p:txBody>
      </p:sp>
      <p:pic>
        <p:nvPicPr>
          <p:cNvPr id="5" name="Content Placeholder 4" descr="african senior woman standing on cassava plantation">
            <a:extLst>
              <a:ext uri="{FF2B5EF4-FFF2-40B4-BE49-F238E27FC236}">
                <a16:creationId xmlns:a16="http://schemas.microsoft.com/office/drawing/2014/main" id="{219B0FF3-4EC7-4F33-8BF6-7F6D47E79573}"/>
              </a:ext>
            </a:extLst>
          </p:cNvPr>
          <p:cNvPicPr>
            <a:picLocks noGrp="1" noChangeAspect="1"/>
          </p:cNvPicPr>
          <p:nvPr>
            <p:ph type="pic" sz="quarter" idx="13"/>
          </p:nvPr>
        </p:nvPicPr>
        <p:blipFill>
          <a:blip r:embed="rId3"/>
          <a:srcRect l="12479" r="42729" b="1"/>
          <a:stretch>
            <a:fillRect/>
          </a:stretch>
        </p:blipFill>
        <p:spPr>
          <a:xfrm>
            <a:off x="533400" y="533399"/>
            <a:ext cx="3886200" cy="5791201"/>
          </a:xfrm>
          <a:prstGeom prst="rect">
            <a:avLst/>
          </a:prstGeom>
          <a:noFill/>
        </p:spPr>
      </p:pic>
      <p:sp>
        <p:nvSpPr>
          <p:cNvPr id="4" name="Content Placeholder 3">
            <a:extLst>
              <a:ext uri="{FF2B5EF4-FFF2-40B4-BE49-F238E27FC236}">
                <a16:creationId xmlns:a16="http://schemas.microsoft.com/office/drawing/2014/main" id="{612D42DE-38F5-E419-4B73-9358EA23D1D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Market Data Access Issues</a:t>
            </a:r>
          </a:p>
          <a:p>
            <a:pPr marL="0" lvl="1" indent="0">
              <a:lnSpc>
                <a:spcPct val="110000"/>
              </a:lnSpc>
              <a:buFont typeface="Arial" panose="020B0604020202020204" pitchFamily="34" charset="0"/>
              <a:buNone/>
            </a:pPr>
            <a:r>
              <a:t>Smallholder farmers and traders in Uganda lack reliable access to consistent market price data for staple crops.</a:t>
            </a:r>
            <a:endParaRPr lang="en-US"/>
          </a:p>
          <a:p>
            <a:pPr marL="0" indent="0">
              <a:lnSpc>
                <a:spcPct val="110000"/>
              </a:lnSpc>
              <a:spcBef>
                <a:spcPts val="2500"/>
              </a:spcBef>
              <a:buFont typeface="Arial" panose="020B0604020202020204" pitchFamily="34" charset="0"/>
              <a:buNone/>
            </a:pPr>
            <a:r>
              <a:rPr lang="en-US" b="1"/>
              <a:t>Impact on Income and Planning</a:t>
            </a:r>
          </a:p>
          <a:p>
            <a:pPr marL="0" lvl="1" indent="0">
              <a:lnSpc>
                <a:spcPct val="110000"/>
              </a:lnSpc>
              <a:buFont typeface="Arial" panose="020B0604020202020204" pitchFamily="34" charset="0"/>
              <a:buNone/>
            </a:pPr>
            <a:r>
              <a:t>Lack of price data leads to undervalued sales and difficulty planning for purchases and sales among traders.</a:t>
            </a:r>
            <a:endParaRPr lang="en-US"/>
          </a:p>
          <a:p>
            <a:pPr marL="0" indent="0">
              <a:lnSpc>
                <a:spcPct val="110000"/>
              </a:lnSpc>
              <a:spcBef>
                <a:spcPts val="2500"/>
              </a:spcBef>
              <a:buFont typeface="Arial" panose="020B0604020202020204" pitchFamily="34" charset="0"/>
              <a:buNone/>
            </a:pPr>
            <a:r>
              <a:rPr lang="en-US" b="1"/>
              <a:t>Limitations of Existing Platforms</a:t>
            </a:r>
          </a:p>
          <a:p>
            <a:pPr marL="0" lvl="1" indent="0">
              <a:lnSpc>
                <a:spcPct val="110000"/>
              </a:lnSpc>
              <a:buFont typeface="Arial" panose="020B0604020202020204" pitchFamily="34" charset="0"/>
              <a:buNone/>
            </a:pPr>
            <a:r>
              <a:t>Current platforms are often internet-dependent, costly, or not designed to meet local needs in rural Uganda.</a:t>
            </a:r>
            <a:endParaRPr lang="en-US"/>
          </a:p>
          <a:p>
            <a:pPr marL="0" indent="0">
              <a:lnSpc>
                <a:spcPct val="110000"/>
              </a:lnSpc>
              <a:spcBef>
                <a:spcPts val="2500"/>
              </a:spcBef>
              <a:buFont typeface="Arial" panose="020B0604020202020204" pitchFamily="34" charset="0"/>
              <a:buNone/>
            </a:pPr>
            <a:r>
              <a:rPr lang="en-US" b="1"/>
              <a:t>Project Goal</a:t>
            </a:r>
          </a:p>
          <a:p>
            <a:pPr marL="0" lvl="1" indent="0">
              <a:lnSpc>
                <a:spcPct val="110000"/>
              </a:lnSpc>
              <a:buFont typeface="Arial" panose="020B0604020202020204" pitchFamily="34" charset="0"/>
              <a:buNone/>
            </a:pPr>
            <a:r>
              <a:t>Develop an offline-capable, simple tool for tracking and analyzing price trends to support farmers and traders.</a:t>
            </a:r>
            <a:endParaRPr lang="en-US"/>
          </a:p>
        </p:txBody>
      </p:sp>
    </p:spTree>
    <p:extLst>
      <p:ext uri="{BB962C8B-B14F-4D97-AF65-F5344CB8AC3E}">
        <p14:creationId xmlns:p14="http://schemas.microsoft.com/office/powerpoint/2010/main" val="5131641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3AC17-ED5B-438F-9BD0-8F5465F3C802}"/>
              </a:ext>
            </a:extLst>
          </p:cNvPr>
          <p:cNvSpPr>
            <a:spLocks noGrp="1"/>
          </p:cNvSpPr>
          <p:nvPr>
            <p:ph type="title"/>
          </p:nvPr>
        </p:nvSpPr>
        <p:spPr>
          <a:xfrm>
            <a:off x="8029814" y="512011"/>
            <a:ext cx="3628786" cy="1259920"/>
          </a:xfrm>
        </p:spPr>
        <p:txBody>
          <a:bodyPr anchor="b">
            <a:normAutofit/>
          </a:bodyPr>
          <a:lstStyle/>
          <a:p>
            <a:r>
              <a:rPr lang="en-US"/>
              <a:t>Objectives</a:t>
            </a:r>
          </a:p>
        </p:txBody>
      </p:sp>
      <p:pic>
        <p:nvPicPr>
          <p:cNvPr id="5" name="Content Placeholder 4" descr="A computer interface concept, monitoring a server room with network security and cloud computing.">
            <a:extLst>
              <a:ext uri="{FF2B5EF4-FFF2-40B4-BE49-F238E27FC236}">
                <a16:creationId xmlns:a16="http://schemas.microsoft.com/office/drawing/2014/main" id="{D42218AD-FE4F-4986-B323-3F2E620D661B}"/>
              </a:ext>
            </a:extLst>
          </p:cNvPr>
          <p:cNvPicPr>
            <a:picLocks noGrp="1" noChangeAspect="1"/>
          </p:cNvPicPr>
          <p:nvPr>
            <p:ph type="pic" sz="quarter" idx="13"/>
          </p:nvPr>
        </p:nvPicPr>
        <p:blipFill>
          <a:blip r:embed="rId3"/>
          <a:stretch/>
        </p:blipFill>
        <p:spPr>
          <a:xfrm>
            <a:off x="533400" y="1435892"/>
            <a:ext cx="7086600" cy="3986212"/>
          </a:xfrm>
          <a:prstGeom prst="rect">
            <a:avLst/>
          </a:prstGeom>
          <a:noFill/>
        </p:spPr>
      </p:pic>
      <p:sp>
        <p:nvSpPr>
          <p:cNvPr id="4" name="Content Placeholder 3">
            <a:extLst>
              <a:ext uri="{FF2B5EF4-FFF2-40B4-BE49-F238E27FC236}">
                <a16:creationId xmlns:a16="http://schemas.microsoft.com/office/drawing/2014/main" id="{038D77D4-49FC-EB05-7E35-53DB605A174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3065" y="2170611"/>
            <a:ext cx="3628786" cy="4162372"/>
          </a:xfrm>
        </p:spPr>
        <p:txBody>
          <a:bodyPr>
            <a:normAutofit/>
          </a:bodyPr>
          <a:lstStyle/>
          <a:p>
            <a:pPr marL="0" indent="0">
              <a:lnSpc>
                <a:spcPct val="110000"/>
              </a:lnSpc>
              <a:spcBef>
                <a:spcPts val="2500"/>
              </a:spcBef>
              <a:buFont typeface="Arial" panose="020B0604020202020204" pitchFamily="34" charset="0"/>
              <a:buNone/>
            </a:pPr>
            <a:r>
              <a:rPr lang="en-US" sz="1100" b="1"/>
              <a:t>Modular Python Application</a:t>
            </a:r>
          </a:p>
          <a:p>
            <a:pPr marL="0" lvl="1" indent="0">
              <a:lnSpc>
                <a:spcPct val="110000"/>
              </a:lnSpc>
              <a:buFont typeface="Arial" panose="020B0604020202020204" pitchFamily="34" charset="0"/>
              <a:buNone/>
            </a:pPr>
            <a:r>
              <a:rPr lang="en-US" sz="1100"/>
              <a:t>Design a modular, object-oriented Python app for recording and storing agricultural market prices.</a:t>
            </a:r>
          </a:p>
          <a:p>
            <a:pPr marL="0" indent="0">
              <a:lnSpc>
                <a:spcPct val="110000"/>
              </a:lnSpc>
              <a:spcBef>
                <a:spcPts val="2500"/>
              </a:spcBef>
              <a:buFont typeface="Arial" panose="020B0604020202020204" pitchFamily="34" charset="0"/>
              <a:buNone/>
            </a:pPr>
            <a:r>
              <a:rPr lang="en-US" sz="1100" b="1"/>
              <a:t>Data Storage with SQLite</a:t>
            </a:r>
          </a:p>
          <a:p>
            <a:pPr marL="0" lvl="1" indent="0">
              <a:lnSpc>
                <a:spcPct val="110000"/>
              </a:lnSpc>
              <a:buFont typeface="Arial" panose="020B0604020202020204" pitchFamily="34" charset="0"/>
              <a:buNone/>
            </a:pPr>
            <a:r>
              <a:rPr lang="en-US" sz="1100"/>
              <a:t>Implement a SQLite-backed system to enable reliable local storage suitable for low internet access areas.</a:t>
            </a:r>
          </a:p>
          <a:p>
            <a:pPr marL="0" indent="0">
              <a:lnSpc>
                <a:spcPct val="110000"/>
              </a:lnSpc>
              <a:spcBef>
                <a:spcPts val="2500"/>
              </a:spcBef>
              <a:buFont typeface="Arial" panose="020B0604020202020204" pitchFamily="34" charset="0"/>
              <a:buNone/>
            </a:pPr>
            <a:r>
              <a:rPr lang="en-US" sz="1100" b="1"/>
              <a:t>Trend Visualization</a:t>
            </a:r>
          </a:p>
          <a:p>
            <a:pPr marL="0" lvl="1" indent="0">
              <a:lnSpc>
                <a:spcPct val="110000"/>
              </a:lnSpc>
              <a:buFont typeface="Arial" panose="020B0604020202020204" pitchFamily="34" charset="0"/>
              <a:buNone/>
            </a:pPr>
            <a:r>
              <a:rPr lang="en-US" sz="1100"/>
              <a:t>Generate clear, informative market price trend visualizations using Matplotlib to assist decision-making.</a:t>
            </a:r>
          </a:p>
          <a:p>
            <a:pPr marL="0" indent="0">
              <a:lnSpc>
                <a:spcPct val="110000"/>
              </a:lnSpc>
              <a:spcBef>
                <a:spcPts val="2500"/>
              </a:spcBef>
              <a:buFont typeface="Arial" panose="020B0604020202020204" pitchFamily="34" charset="0"/>
              <a:buNone/>
            </a:pPr>
            <a:r>
              <a:rPr lang="en-US" sz="1100" b="1"/>
              <a:t>User Empowerment</a:t>
            </a:r>
          </a:p>
          <a:p>
            <a:pPr marL="0" lvl="1" indent="0">
              <a:lnSpc>
                <a:spcPct val="110000"/>
              </a:lnSpc>
              <a:buFont typeface="Arial" panose="020B0604020202020204" pitchFamily="34" charset="0"/>
              <a:buNone/>
            </a:pPr>
            <a:r>
              <a:rPr lang="en-US" sz="1100"/>
              <a:t>Provide reusable code, sample data, and documentation to empower users with data-driven insights.</a:t>
            </a:r>
          </a:p>
        </p:txBody>
      </p:sp>
    </p:spTree>
    <p:extLst>
      <p:ext uri="{BB962C8B-B14F-4D97-AF65-F5344CB8AC3E}">
        <p14:creationId xmlns:p14="http://schemas.microsoft.com/office/powerpoint/2010/main" val="30739041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AB4FF-4C2F-AFE4-6C8B-CC0B551B8150}"/>
              </a:ext>
            </a:extLst>
          </p:cNvPr>
          <p:cNvSpPr>
            <a:spLocks noGrp="1"/>
          </p:cNvSpPr>
          <p:nvPr>
            <p:ph type="title"/>
          </p:nvPr>
        </p:nvSpPr>
        <p:spPr>
          <a:xfrm>
            <a:off x="4848555" y="512011"/>
            <a:ext cx="6792069" cy="1259920"/>
          </a:xfrm>
        </p:spPr>
        <p:txBody>
          <a:bodyPr anchor="b">
            <a:normAutofit/>
          </a:bodyPr>
          <a:lstStyle/>
          <a:p>
            <a:r>
              <a:rPr lang="en-US"/>
              <a:t>Real-World Relevance</a:t>
            </a:r>
          </a:p>
        </p:txBody>
      </p:sp>
      <p:pic>
        <p:nvPicPr>
          <p:cNvPr id="5" name="Content Placeholder 4" descr="Young female farmer with digital tablet">
            <a:extLst>
              <a:ext uri="{FF2B5EF4-FFF2-40B4-BE49-F238E27FC236}">
                <a16:creationId xmlns:a16="http://schemas.microsoft.com/office/drawing/2014/main" id="{A8F63BCB-1DE5-40E3-B7CE-57C79B5CF5F5}"/>
              </a:ext>
            </a:extLst>
          </p:cNvPr>
          <p:cNvPicPr>
            <a:picLocks noGrp="1" noChangeAspect="1"/>
          </p:cNvPicPr>
          <p:nvPr>
            <p:ph type="pic" sz="quarter" idx="13"/>
          </p:nvPr>
        </p:nvPicPr>
        <p:blipFill>
          <a:blip r:embed="rId3"/>
          <a:srcRect l="9020" r="60615" b="1"/>
          <a:stretch>
            <a:fillRect/>
          </a:stretch>
        </p:blipFill>
        <p:spPr>
          <a:xfrm>
            <a:off x="533400" y="533399"/>
            <a:ext cx="3886200" cy="5791201"/>
          </a:xfrm>
          <a:prstGeom prst="rect">
            <a:avLst/>
          </a:prstGeom>
          <a:noFill/>
        </p:spPr>
      </p:pic>
      <p:sp>
        <p:nvSpPr>
          <p:cNvPr id="4" name="Content Placeholder 3">
            <a:extLst>
              <a:ext uri="{FF2B5EF4-FFF2-40B4-BE49-F238E27FC236}">
                <a16:creationId xmlns:a16="http://schemas.microsoft.com/office/drawing/2014/main" id="{BE98594D-D85A-4312-8A52-795AAA9A3F8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Agriculture Workforce in Uganda</a:t>
            </a:r>
          </a:p>
          <a:p>
            <a:pPr marL="0" lvl="1" indent="0">
              <a:lnSpc>
                <a:spcPct val="110000"/>
              </a:lnSpc>
              <a:buFont typeface="Arial" panose="020B0604020202020204" pitchFamily="34" charset="0"/>
              <a:buNone/>
            </a:pPr>
            <a:r>
              <a:t>Over 70% of Uganda’s workforce is employed in agriculture, highlighting the sector’s importance.</a:t>
            </a:r>
            <a:endParaRPr lang="en-US"/>
          </a:p>
          <a:p>
            <a:pPr marL="0" indent="0">
              <a:lnSpc>
                <a:spcPct val="110000"/>
              </a:lnSpc>
              <a:spcBef>
                <a:spcPts val="2500"/>
              </a:spcBef>
              <a:buFont typeface="Arial" panose="020B0604020202020204" pitchFamily="34" charset="0"/>
              <a:buNone/>
            </a:pPr>
            <a:r>
              <a:rPr lang="en-US" b="1"/>
              <a:t>Offline Price Tracker Tool</a:t>
            </a:r>
          </a:p>
          <a:p>
            <a:pPr marL="0" lvl="1" indent="0">
              <a:lnSpc>
                <a:spcPct val="110000"/>
              </a:lnSpc>
              <a:buFont typeface="Arial" panose="020B0604020202020204" pitchFamily="34" charset="0"/>
              <a:buNone/>
            </a:pPr>
            <a:r>
              <a:t>A lightweight, user-friendly price tracker operates offline to assist farmers with market analysis.</a:t>
            </a:r>
            <a:endParaRPr lang="en-US"/>
          </a:p>
          <a:p>
            <a:pPr marL="0" indent="0">
              <a:lnSpc>
                <a:spcPct val="110000"/>
              </a:lnSpc>
              <a:spcBef>
                <a:spcPts val="2500"/>
              </a:spcBef>
              <a:buFont typeface="Arial" panose="020B0604020202020204" pitchFamily="34" charset="0"/>
              <a:buNone/>
            </a:pPr>
            <a:r>
              <a:rPr lang="en-US" b="1"/>
              <a:t>Empowering Farmers and Traders</a:t>
            </a:r>
          </a:p>
          <a:p>
            <a:pPr marL="0" lvl="1" indent="0">
              <a:lnSpc>
                <a:spcPct val="110000"/>
              </a:lnSpc>
              <a:buFont typeface="Arial" panose="020B0604020202020204" pitchFamily="34" charset="0"/>
              <a:buNone/>
            </a:pPr>
            <a:r>
              <a:t>The tool provides actionable insights enabling informed decisions and reducing exploitation risks.</a:t>
            </a:r>
            <a:endParaRPr lang="en-US"/>
          </a:p>
          <a:p>
            <a:pPr marL="0" indent="0">
              <a:lnSpc>
                <a:spcPct val="110000"/>
              </a:lnSpc>
              <a:spcBef>
                <a:spcPts val="2500"/>
              </a:spcBef>
              <a:buFont typeface="Arial" panose="020B0604020202020204" pitchFamily="34" charset="0"/>
              <a:buNone/>
            </a:pPr>
            <a:r>
              <a:rPr lang="en-US" b="1"/>
              <a:t>Future Scalability Features</a:t>
            </a:r>
          </a:p>
          <a:p>
            <a:pPr marL="0" lvl="1" indent="0">
              <a:lnSpc>
                <a:spcPct val="110000"/>
              </a:lnSpc>
              <a:buFont typeface="Arial" panose="020B0604020202020204" pitchFamily="34" charset="0"/>
              <a:buNone/>
            </a:pPr>
            <a:r>
              <a:t>Plans include SMS input, radio integration, and syncing with national databases for broader impact.</a:t>
            </a:r>
            <a:endParaRPr lang="en-US"/>
          </a:p>
        </p:txBody>
      </p:sp>
    </p:spTree>
    <p:extLst>
      <p:ext uri="{BB962C8B-B14F-4D97-AF65-F5344CB8AC3E}">
        <p14:creationId xmlns:p14="http://schemas.microsoft.com/office/powerpoint/2010/main" val="8179397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2D8C0-6D47-BE46-09A1-F4004D94E742}"/>
              </a:ext>
            </a:extLst>
          </p:cNvPr>
          <p:cNvSpPr>
            <a:spLocks noGrp="1"/>
          </p:cNvSpPr>
          <p:nvPr>
            <p:ph type="title"/>
          </p:nvPr>
        </p:nvSpPr>
        <p:spPr>
          <a:xfrm>
            <a:off x="8029814" y="512011"/>
            <a:ext cx="3628786" cy="1259920"/>
          </a:xfrm>
        </p:spPr>
        <p:txBody>
          <a:bodyPr anchor="b">
            <a:normAutofit/>
          </a:bodyPr>
          <a:lstStyle/>
          <a:p>
            <a:r>
              <a:rPr lang="en-US"/>
              <a:t>Scope of Work</a:t>
            </a:r>
          </a:p>
        </p:txBody>
      </p:sp>
      <p:pic>
        <p:nvPicPr>
          <p:cNvPr id="5" name="Content Placeholder 4" descr="Network connection">
            <a:extLst>
              <a:ext uri="{FF2B5EF4-FFF2-40B4-BE49-F238E27FC236}">
                <a16:creationId xmlns:a16="http://schemas.microsoft.com/office/drawing/2014/main" id="{3CCBB3AB-7F0A-48A3-AF29-D1C88A7F82C9}"/>
              </a:ext>
            </a:extLst>
          </p:cNvPr>
          <p:cNvPicPr>
            <a:picLocks noGrp="1" noChangeAspect="1"/>
          </p:cNvPicPr>
          <p:nvPr>
            <p:ph type="pic" sz="quarter" idx="13"/>
          </p:nvPr>
        </p:nvPicPr>
        <p:blipFill>
          <a:blip r:embed="rId3"/>
          <a:stretch/>
        </p:blipFill>
        <p:spPr>
          <a:xfrm>
            <a:off x="533400" y="1435892"/>
            <a:ext cx="7086600" cy="3986212"/>
          </a:xfrm>
          <a:prstGeom prst="rect">
            <a:avLst/>
          </a:prstGeom>
          <a:noFill/>
        </p:spPr>
      </p:pic>
      <p:sp>
        <p:nvSpPr>
          <p:cNvPr id="4" name="Content Placeholder 3">
            <a:extLst>
              <a:ext uri="{FF2B5EF4-FFF2-40B4-BE49-F238E27FC236}">
                <a16:creationId xmlns:a16="http://schemas.microsoft.com/office/drawing/2014/main" id="{4C994C60-C4D7-27FA-4D74-CB59E690862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3065" y="2170611"/>
            <a:ext cx="3628786" cy="4162372"/>
          </a:xfrm>
        </p:spPr>
        <p:txBody>
          <a:bodyPr>
            <a:normAutofit/>
          </a:bodyPr>
          <a:lstStyle/>
          <a:p>
            <a:pPr marL="0" indent="0">
              <a:lnSpc>
                <a:spcPct val="110000"/>
              </a:lnSpc>
              <a:spcBef>
                <a:spcPts val="2500"/>
              </a:spcBef>
              <a:buFont typeface="Arial" panose="020B0604020202020204" pitchFamily="34" charset="0"/>
              <a:buNone/>
            </a:pPr>
            <a:r>
              <a:rPr lang="en-US" sz="1300" b="1"/>
              <a:t>Application Features</a:t>
            </a:r>
          </a:p>
          <a:p>
            <a:pPr marL="0" lvl="1" indent="0">
              <a:lnSpc>
                <a:spcPct val="110000"/>
              </a:lnSpc>
              <a:buFont typeface="Arial" panose="020B0604020202020204" pitchFamily="34" charset="0"/>
              <a:buNone/>
            </a:pPr>
            <a:r>
              <a:rPr lang="en-US" sz="1300"/>
              <a:t>Develop a Python app with data entry, local storage, trend analysis, and product management features.</a:t>
            </a:r>
          </a:p>
          <a:p>
            <a:pPr marL="0" indent="0">
              <a:lnSpc>
                <a:spcPct val="110000"/>
              </a:lnSpc>
              <a:spcBef>
                <a:spcPts val="2500"/>
              </a:spcBef>
              <a:buFont typeface="Arial" panose="020B0604020202020204" pitchFamily="34" charset="0"/>
              <a:buNone/>
            </a:pPr>
            <a:r>
              <a:rPr lang="en-US" sz="1300" b="1"/>
              <a:t>Command-Line Interface</a:t>
            </a:r>
          </a:p>
          <a:p>
            <a:pPr marL="0" lvl="1" indent="0">
              <a:lnSpc>
                <a:spcPct val="110000"/>
              </a:lnSpc>
              <a:buFont typeface="Arial" panose="020B0604020202020204" pitchFamily="34" charset="0"/>
              <a:buNone/>
            </a:pPr>
            <a:r>
              <a:rPr lang="en-US" sz="1300"/>
              <a:t>Use a CLI design for ease of use and compatibility with low-resource environments.</a:t>
            </a:r>
          </a:p>
          <a:p>
            <a:pPr marL="0" indent="0">
              <a:lnSpc>
                <a:spcPct val="110000"/>
              </a:lnSpc>
              <a:spcBef>
                <a:spcPts val="2500"/>
              </a:spcBef>
              <a:buFont typeface="Arial" panose="020B0604020202020204" pitchFamily="34" charset="0"/>
              <a:buNone/>
            </a:pPr>
            <a:r>
              <a:rPr lang="en-US" sz="1300" b="1"/>
              <a:t>Data Visualization</a:t>
            </a:r>
          </a:p>
          <a:p>
            <a:pPr marL="0" lvl="1" indent="0">
              <a:lnSpc>
                <a:spcPct val="110000"/>
              </a:lnSpc>
              <a:buFont typeface="Arial" panose="020B0604020202020204" pitchFamily="34" charset="0"/>
              <a:buNone/>
            </a:pPr>
            <a:r>
              <a:rPr lang="en-US" sz="1300"/>
              <a:t>Generate visual graphs to analyze pricing trends and optional market comparisons.</a:t>
            </a:r>
          </a:p>
          <a:p>
            <a:pPr marL="0" indent="0">
              <a:lnSpc>
                <a:spcPct val="110000"/>
              </a:lnSpc>
              <a:spcBef>
                <a:spcPts val="2500"/>
              </a:spcBef>
              <a:buFont typeface="Arial" panose="020B0604020202020204" pitchFamily="34" charset="0"/>
              <a:buNone/>
            </a:pPr>
            <a:r>
              <a:rPr lang="en-US" sz="1300" b="1"/>
              <a:t>Project Documentation</a:t>
            </a:r>
          </a:p>
          <a:p>
            <a:pPr marL="0" lvl="1" indent="0">
              <a:lnSpc>
                <a:spcPct val="110000"/>
              </a:lnSpc>
              <a:buFont typeface="Arial" panose="020B0604020202020204" pitchFamily="34" charset="0"/>
              <a:buNone/>
            </a:pPr>
            <a:r>
              <a:rPr lang="en-US" sz="1300"/>
              <a:t>Create sample datasets, visual outputs, and document system architecture clearly.</a:t>
            </a:r>
          </a:p>
        </p:txBody>
      </p:sp>
    </p:spTree>
    <p:extLst>
      <p:ext uri="{BB962C8B-B14F-4D97-AF65-F5344CB8AC3E}">
        <p14:creationId xmlns:p14="http://schemas.microsoft.com/office/powerpoint/2010/main" val="18725196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18582-9D4A-B832-4437-0046E370A724}"/>
              </a:ext>
            </a:extLst>
          </p:cNvPr>
          <p:cNvSpPr>
            <a:spLocks noGrp="1"/>
          </p:cNvSpPr>
          <p:nvPr>
            <p:ph type="title"/>
          </p:nvPr>
        </p:nvSpPr>
        <p:spPr>
          <a:xfrm>
            <a:off x="4848555" y="512011"/>
            <a:ext cx="6792069" cy="1259920"/>
          </a:xfrm>
        </p:spPr>
        <p:txBody>
          <a:bodyPr anchor="b">
            <a:normAutofit/>
          </a:bodyPr>
          <a:lstStyle/>
          <a:p>
            <a:r>
              <a:rPr lang="en-US"/>
              <a:t>Tools &amp; Technologies</a:t>
            </a:r>
          </a:p>
        </p:txBody>
      </p:sp>
      <p:pic>
        <p:nvPicPr>
          <p:cNvPr id="5" name="Content Placeholder 4" descr="Businesswoman holding placard with coins in front of technology icons">
            <a:extLst>
              <a:ext uri="{FF2B5EF4-FFF2-40B4-BE49-F238E27FC236}">
                <a16:creationId xmlns:a16="http://schemas.microsoft.com/office/drawing/2014/main" id="{020E97B5-43D0-49B3-AA2C-A0803D947754}"/>
              </a:ext>
            </a:extLst>
          </p:cNvPr>
          <p:cNvPicPr>
            <a:picLocks noGrp="1" noChangeAspect="1"/>
          </p:cNvPicPr>
          <p:nvPr>
            <p:ph type="pic" sz="quarter" idx="13"/>
          </p:nvPr>
        </p:nvPicPr>
        <p:blipFill>
          <a:blip r:embed="rId3"/>
          <a:srcRect l="29172" r="26035" b="1"/>
          <a:stretch>
            <a:fillRect/>
          </a:stretch>
        </p:blipFill>
        <p:spPr>
          <a:xfrm>
            <a:off x="533400" y="533399"/>
            <a:ext cx="3886200" cy="5791201"/>
          </a:xfrm>
          <a:prstGeom prst="rect">
            <a:avLst/>
          </a:prstGeom>
          <a:noFill/>
        </p:spPr>
      </p:pic>
      <p:sp>
        <p:nvSpPr>
          <p:cNvPr id="4" name="Content Placeholder 3">
            <a:extLst>
              <a:ext uri="{FF2B5EF4-FFF2-40B4-BE49-F238E27FC236}">
                <a16:creationId xmlns:a16="http://schemas.microsoft.com/office/drawing/2014/main" id="{1F75E92B-6ED3-EAED-EC37-9E5403C943E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spcBef>
                <a:spcPts val="2500"/>
              </a:spcBef>
              <a:buFont typeface="Arial" panose="020B0604020202020204" pitchFamily="34" charset="0"/>
              <a:buNone/>
            </a:pPr>
            <a:r>
              <a:rPr lang="en-US" b="1"/>
              <a:t>Core Programming Language</a:t>
            </a:r>
          </a:p>
          <a:p>
            <a:pPr marL="0" lvl="1" indent="0">
              <a:buFont typeface="Arial" panose="020B0604020202020204" pitchFamily="34" charset="0"/>
              <a:buNone/>
            </a:pPr>
            <a:r>
              <a:t>Python 3.13 serves as the main language, known for its versatility and robust ecosystem.</a:t>
            </a:r>
            <a:endParaRPr lang="en-US"/>
          </a:p>
          <a:p>
            <a:pPr marL="0" indent="0">
              <a:spcBef>
                <a:spcPts val="2500"/>
              </a:spcBef>
              <a:buFont typeface="Arial" panose="020B0604020202020204" pitchFamily="34" charset="0"/>
              <a:buNone/>
            </a:pPr>
            <a:r>
              <a:rPr lang="en-US" b="1"/>
              <a:t>Data Handling Libraries</a:t>
            </a:r>
          </a:p>
          <a:p>
            <a:pPr marL="0" lvl="1" indent="0">
              <a:buFont typeface="Arial" panose="020B0604020202020204" pitchFamily="34" charset="0"/>
              <a:buNone/>
            </a:pPr>
            <a:r>
              <a:t>Pandas manages data efficiently while Matplotlib enables visualization of price trends.</a:t>
            </a:r>
            <a:endParaRPr lang="en-US"/>
          </a:p>
          <a:p>
            <a:pPr marL="0" indent="0">
              <a:spcBef>
                <a:spcPts val="2500"/>
              </a:spcBef>
              <a:buFont typeface="Arial" panose="020B0604020202020204" pitchFamily="34" charset="0"/>
              <a:buNone/>
            </a:pPr>
            <a:r>
              <a:rPr lang="en-US" b="1"/>
              <a:t>File and Database Support</a:t>
            </a:r>
          </a:p>
          <a:p>
            <a:pPr marL="0" lvl="1" indent="0">
              <a:buFont typeface="Arial" panose="020B0604020202020204" pitchFamily="34" charset="0"/>
              <a:buNone/>
            </a:pPr>
            <a:r>
              <a:t>Openpyxl supports Excel files, and sqlite3 handles local database storage for offline data management.</a:t>
            </a:r>
            <a:endParaRPr lang="en-US"/>
          </a:p>
          <a:p>
            <a:pPr marL="0" indent="0">
              <a:spcBef>
                <a:spcPts val="2500"/>
              </a:spcBef>
              <a:buFont typeface="Arial" panose="020B0604020202020204" pitchFamily="34" charset="0"/>
              <a:buNone/>
            </a:pPr>
            <a:r>
              <a:rPr lang="en-US" b="1"/>
              <a:t>User Interface and Reporting</a:t>
            </a:r>
          </a:p>
          <a:p>
            <a:pPr marL="0" lvl="1" indent="0">
              <a:buFont typeface="Arial" panose="020B0604020202020204" pitchFamily="34" charset="0"/>
              <a:buNone/>
            </a:pPr>
            <a:r>
              <a:t>A command-line interface enables user interaction, while python-docx and python-pptx generate reports and slides automatically.</a:t>
            </a:r>
            <a:endParaRPr lang="en-US"/>
          </a:p>
        </p:txBody>
      </p:sp>
    </p:spTree>
    <p:extLst>
      <p:ext uri="{BB962C8B-B14F-4D97-AF65-F5344CB8AC3E}">
        <p14:creationId xmlns:p14="http://schemas.microsoft.com/office/powerpoint/2010/main" val="34919319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FE8E5-5FE0-A510-F791-26BE69A79C59}"/>
              </a:ext>
            </a:extLst>
          </p:cNvPr>
          <p:cNvSpPr>
            <a:spLocks noGrp="1"/>
          </p:cNvSpPr>
          <p:nvPr>
            <p:ph type="title"/>
          </p:nvPr>
        </p:nvSpPr>
        <p:spPr>
          <a:xfrm>
            <a:off x="399679" y="332308"/>
            <a:ext cx="11253667" cy="909921"/>
          </a:xfrm>
        </p:spPr>
        <p:txBody>
          <a:bodyPr anchor="b">
            <a:normAutofit/>
          </a:bodyPr>
          <a:lstStyle/>
          <a:p>
            <a:r>
              <a:rPr lang="en-US"/>
              <a:t>System Design (OOP approach)</a:t>
            </a:r>
          </a:p>
        </p:txBody>
      </p:sp>
      <p:graphicFrame>
        <p:nvGraphicFramePr>
          <p:cNvPr id="5" name="Content Placeholder 4">
            <a:extLst>
              <a:ext uri="{FF2B5EF4-FFF2-40B4-BE49-F238E27FC236}">
                <a16:creationId xmlns:a16="http://schemas.microsoft.com/office/drawing/2014/main" id="{E3FF853A-2BD9-4F7A-92EE-DA7886916323}"/>
              </a:ext>
            </a:extLst>
          </p:cNvPr>
          <p:cNvGraphicFramePr>
            <a:graphicFrameLocks noGrp="1"/>
          </p:cNvGraphicFramePr>
          <p:nvPr>
            <p:ph idx="1"/>
          </p:nvPr>
        </p:nvGraphicFramePr>
        <p:xfrm>
          <a:off x="729542" y="1488931"/>
          <a:ext cx="10599257" cy="4700764"/>
        </p:xfrm>
        <a:graphic>
          <a:graphicData uri="http://schemas.openxmlformats.org/drawingml/2006/table">
            <a:tbl>
              <a:tblPr firstRow="1" bandRow="1">
                <a:noFill/>
                <a:tableStyleId>{5C22544A-7EE6-4342-B048-85BDC9FD1C3A}</a:tableStyleId>
              </a:tblPr>
              <a:tblGrid>
                <a:gridCol w="2298829">
                  <a:extLst>
                    <a:ext uri="{9D8B030D-6E8A-4147-A177-3AD203B41FA5}">
                      <a16:colId xmlns:a16="http://schemas.microsoft.com/office/drawing/2014/main" val="3077707521"/>
                    </a:ext>
                  </a:extLst>
                </a:gridCol>
                <a:gridCol w="4056281">
                  <a:extLst>
                    <a:ext uri="{9D8B030D-6E8A-4147-A177-3AD203B41FA5}">
                      <a16:colId xmlns:a16="http://schemas.microsoft.com/office/drawing/2014/main" val="3958380784"/>
                    </a:ext>
                  </a:extLst>
                </a:gridCol>
                <a:gridCol w="4244147">
                  <a:extLst>
                    <a:ext uri="{9D8B030D-6E8A-4147-A177-3AD203B41FA5}">
                      <a16:colId xmlns:a16="http://schemas.microsoft.com/office/drawing/2014/main" val="3177556683"/>
                    </a:ext>
                  </a:extLst>
                </a:gridCol>
              </a:tblGrid>
              <a:tr h="705890">
                <a:tc>
                  <a:txBody>
                    <a:bodyPr/>
                    <a:lstStyle/>
                    <a:p>
                      <a:pPr>
                        <a:buNone/>
                      </a:pPr>
                      <a:r>
                        <a:rPr lang="en-US" sz="2000" b="1" cap="all" spc="150">
                          <a:solidFill>
                            <a:schemeClr val="tx1"/>
                          </a:solidFill>
                        </a:rPr>
                        <a:t>Class</a:t>
                      </a:r>
                    </a:p>
                  </a:txBody>
                  <a:tcPr marL="174533" marR="174533" marT="174533" marB="174533"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000" b="1" cap="all" spc="150">
                          <a:solidFill>
                            <a:schemeClr val="tx1"/>
                          </a:solidFill>
                        </a:rPr>
                        <a:t>Purpose</a:t>
                      </a:r>
                    </a:p>
                  </a:txBody>
                  <a:tcPr marL="174533" marR="174533" marT="174533" marB="174533"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000" b="1" cap="all" spc="150">
                          <a:solidFill>
                            <a:schemeClr val="tx1"/>
                          </a:solidFill>
                        </a:rPr>
                        <a:t>Key Methods</a:t>
                      </a:r>
                    </a:p>
                  </a:txBody>
                  <a:tcPr marL="174533" marR="174533" marT="174533" marB="174533"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2884876448"/>
                  </a:ext>
                </a:extLst>
              </a:tr>
              <a:tr h="899816">
                <a:tc>
                  <a:txBody>
                    <a:bodyPr/>
                    <a:lstStyle/>
                    <a:p>
                      <a:pPr>
                        <a:buNone/>
                      </a:pPr>
                      <a:r>
                        <a:rPr lang="en-US" sz="1700" b="1" cap="none" spc="0">
                          <a:solidFill>
                            <a:schemeClr val="tx1"/>
                          </a:solidFill>
                        </a:rPr>
                        <a:t>Product</a:t>
                      </a:r>
                    </a:p>
                  </a:txBody>
                  <a:tcPr marL="174533" marR="174533" marT="174533" marB="174533"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700" cap="none" spc="0">
                          <a:solidFill>
                            <a:schemeClr val="tx1"/>
                          </a:solidFill>
                        </a:rPr>
                        <a:t>Represents a tracked agricultural product</a:t>
                      </a:r>
                    </a:p>
                  </a:txBody>
                  <a:tcPr marL="174533" marR="174533" marT="174533" marB="174533"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700" cap="none" spc="0">
                          <a:solidFill>
                            <a:schemeClr val="tx1"/>
                          </a:solidFill>
                        </a:rPr>
                        <a:t>name</a:t>
                      </a:r>
                    </a:p>
                  </a:txBody>
                  <a:tcPr marL="174533" marR="174533" marT="174533" marB="174533"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3406623760"/>
                  </a:ext>
                </a:extLst>
              </a:tr>
              <a:tr h="647713">
                <a:tc>
                  <a:txBody>
                    <a:bodyPr/>
                    <a:lstStyle/>
                    <a:p>
                      <a:pPr>
                        <a:buNone/>
                      </a:pPr>
                      <a:r>
                        <a:rPr lang="en-US" sz="1700" b="1" cap="none" spc="0">
                          <a:solidFill>
                            <a:schemeClr val="tx1"/>
                          </a:solidFill>
                        </a:rPr>
                        <a:t>Market</a:t>
                      </a:r>
                    </a:p>
                  </a:txBody>
                  <a:tcPr marL="174533" marR="174533" marT="174533" marB="17453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700" cap="none" spc="0">
                          <a:solidFill>
                            <a:schemeClr val="tx1"/>
                          </a:solidFill>
                        </a:rPr>
                        <a:t>Represents a market location</a:t>
                      </a:r>
                    </a:p>
                  </a:txBody>
                  <a:tcPr marL="174533" marR="174533" marT="174533" marB="17453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700" cap="none" spc="0">
                          <a:solidFill>
                            <a:schemeClr val="tx1"/>
                          </a:solidFill>
                        </a:rPr>
                        <a:t>name, location</a:t>
                      </a:r>
                    </a:p>
                  </a:txBody>
                  <a:tcPr marL="174533" marR="174533" marT="174533" marB="17453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489652964"/>
                  </a:ext>
                </a:extLst>
              </a:tr>
              <a:tr h="899816">
                <a:tc>
                  <a:txBody>
                    <a:bodyPr/>
                    <a:lstStyle/>
                    <a:p>
                      <a:pPr>
                        <a:buNone/>
                      </a:pPr>
                      <a:r>
                        <a:rPr lang="en-US" sz="1700" b="1" cap="none" spc="0">
                          <a:solidFill>
                            <a:schemeClr val="tx1"/>
                          </a:solidFill>
                        </a:rPr>
                        <a:t>PriceRecord</a:t>
                      </a:r>
                    </a:p>
                  </a:txBody>
                  <a:tcPr marL="174533" marR="174533" marT="174533" marB="174533"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700" cap="none" spc="0">
                          <a:solidFill>
                            <a:schemeClr val="tx1"/>
                          </a:solidFill>
                        </a:rPr>
                        <a:t>Stores price data for a product-market-date</a:t>
                      </a:r>
                    </a:p>
                  </a:txBody>
                  <a:tcPr marL="174533" marR="174533" marT="174533" marB="174533"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700" cap="none" spc="0">
                          <a:solidFill>
                            <a:schemeClr val="tx1"/>
                          </a:solidFill>
                        </a:rPr>
                        <a:t>product, market, price, date</a:t>
                      </a:r>
                    </a:p>
                  </a:txBody>
                  <a:tcPr marL="174533" marR="174533" marT="174533" marB="17453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915897"/>
                  </a:ext>
                </a:extLst>
              </a:tr>
              <a:tr h="899816">
                <a:tc>
                  <a:txBody>
                    <a:bodyPr/>
                    <a:lstStyle/>
                    <a:p>
                      <a:pPr>
                        <a:buNone/>
                      </a:pPr>
                      <a:r>
                        <a:rPr lang="en-US" sz="1700" b="1" cap="none" spc="0">
                          <a:solidFill>
                            <a:schemeClr val="tx1"/>
                          </a:solidFill>
                        </a:rPr>
                        <a:t>DatabaseManager</a:t>
                      </a:r>
                    </a:p>
                  </a:txBody>
                  <a:tcPr marL="174533" marR="174533" marT="174533" marB="17453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700" cap="none" spc="0">
                          <a:solidFill>
                            <a:schemeClr val="tx1"/>
                          </a:solidFill>
                        </a:rPr>
                        <a:t>Handles SQLite operations</a:t>
                      </a:r>
                    </a:p>
                  </a:txBody>
                  <a:tcPr marL="174533" marR="174533" marT="174533" marB="17453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700" cap="none" spc="0">
                          <a:solidFill>
                            <a:schemeClr val="tx1"/>
                          </a:solidFill>
                        </a:rPr>
                        <a:t>add_product, add_market, record_price, fetch_timeseries</a:t>
                      </a:r>
                    </a:p>
                  </a:txBody>
                  <a:tcPr marL="174533" marR="174533" marT="174533" marB="17453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293903871"/>
                  </a:ext>
                </a:extLst>
              </a:tr>
              <a:tr h="647713">
                <a:tc>
                  <a:txBody>
                    <a:bodyPr/>
                    <a:lstStyle/>
                    <a:p>
                      <a:pPr>
                        <a:buNone/>
                      </a:pPr>
                      <a:r>
                        <a:rPr lang="en-US" sz="1700" b="1" cap="none" spc="0">
                          <a:solidFill>
                            <a:schemeClr val="tx1"/>
                          </a:solidFill>
                        </a:rPr>
                        <a:t>Plotter</a:t>
                      </a:r>
                    </a:p>
                  </a:txBody>
                  <a:tcPr marL="174533" marR="174533" marT="174533" marB="174533"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700" cap="none" spc="0">
                          <a:solidFill>
                            <a:schemeClr val="tx1"/>
                          </a:solidFill>
                        </a:rPr>
                        <a:t>Generates trend plots</a:t>
                      </a:r>
                    </a:p>
                  </a:txBody>
                  <a:tcPr marL="174533" marR="174533" marT="174533" marB="174533"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700" cap="none" spc="0">
                          <a:solidFill>
                            <a:schemeClr val="tx1"/>
                          </a:solidFill>
                        </a:rPr>
                        <a:t>plot_product_trend</a:t>
                      </a:r>
                    </a:p>
                  </a:txBody>
                  <a:tcPr marL="174533" marR="174533" marT="174533" marB="174533"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1785549185"/>
                  </a:ext>
                </a:extLst>
              </a:tr>
            </a:tbl>
          </a:graphicData>
        </a:graphic>
      </p:graphicFrame>
    </p:spTree>
    <p:extLst>
      <p:ext uri="{BB962C8B-B14F-4D97-AF65-F5344CB8AC3E}">
        <p14:creationId xmlns:p14="http://schemas.microsoft.com/office/powerpoint/2010/main" val="270758764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21280-D60B-E744-A328-38BCCAC7E38E}"/>
              </a:ext>
            </a:extLst>
          </p:cNvPr>
          <p:cNvSpPr>
            <a:spLocks noGrp="1"/>
          </p:cNvSpPr>
          <p:nvPr>
            <p:ph type="title"/>
          </p:nvPr>
        </p:nvSpPr>
        <p:spPr>
          <a:xfrm>
            <a:off x="4848555" y="512011"/>
            <a:ext cx="6792069" cy="1259920"/>
          </a:xfrm>
        </p:spPr>
        <p:txBody>
          <a:bodyPr anchor="b">
            <a:normAutofit/>
          </a:bodyPr>
          <a:lstStyle/>
          <a:p>
            <a:r>
              <a:rPr lang="en-US"/>
              <a:t>Key Features</a:t>
            </a:r>
          </a:p>
        </p:txBody>
      </p:sp>
      <p:pic>
        <p:nvPicPr>
          <p:cNvPr id="5" name="Content Placeholder 4" descr="Investors are trading stocks. In the electronic market through smartphone.">
            <a:extLst>
              <a:ext uri="{FF2B5EF4-FFF2-40B4-BE49-F238E27FC236}">
                <a16:creationId xmlns:a16="http://schemas.microsoft.com/office/drawing/2014/main" id="{7AB8A0FC-8197-4F04-97FC-063F4459295E}"/>
              </a:ext>
            </a:extLst>
          </p:cNvPr>
          <p:cNvPicPr>
            <a:picLocks noGrp="1" noChangeAspect="1"/>
          </p:cNvPicPr>
          <p:nvPr>
            <p:ph type="pic" sz="quarter" idx="13"/>
          </p:nvPr>
        </p:nvPicPr>
        <p:blipFill>
          <a:blip r:embed="rId3"/>
          <a:srcRect l="41596" r="13612" b="1"/>
          <a:stretch>
            <a:fillRect/>
          </a:stretch>
        </p:blipFill>
        <p:spPr>
          <a:xfrm>
            <a:off x="533400" y="533399"/>
            <a:ext cx="3886200" cy="5791201"/>
          </a:xfrm>
          <a:prstGeom prst="rect">
            <a:avLst/>
          </a:prstGeom>
          <a:noFill/>
        </p:spPr>
      </p:pic>
      <p:sp>
        <p:nvSpPr>
          <p:cNvPr id="4" name="Content Placeholder 3">
            <a:extLst>
              <a:ext uri="{FF2B5EF4-FFF2-40B4-BE49-F238E27FC236}">
                <a16:creationId xmlns:a16="http://schemas.microsoft.com/office/drawing/2014/main" id="{3D113B35-C479-A6E8-7964-9689AC8B12E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Product and Market Management</a:t>
            </a:r>
          </a:p>
          <a:p>
            <a:pPr marL="0" lvl="1" indent="0">
              <a:lnSpc>
                <a:spcPct val="110000"/>
              </a:lnSpc>
              <a:buFont typeface="Arial" panose="020B0604020202020204" pitchFamily="34" charset="0"/>
              <a:buNone/>
            </a:pPr>
            <a:r>
              <a:t>Users can easily add and manage products and markets to personalize their data tracking experience.</a:t>
            </a:r>
            <a:endParaRPr lang="en-US"/>
          </a:p>
          <a:p>
            <a:pPr marL="0" indent="0">
              <a:lnSpc>
                <a:spcPct val="110000"/>
              </a:lnSpc>
              <a:spcBef>
                <a:spcPts val="2500"/>
              </a:spcBef>
              <a:buFont typeface="Arial" panose="020B0604020202020204" pitchFamily="34" charset="0"/>
              <a:buNone/>
            </a:pPr>
            <a:r>
              <a:rPr lang="en-US" b="1"/>
              <a:t>Price Recording and Visualization</a:t>
            </a:r>
          </a:p>
          <a:p>
            <a:pPr marL="0" lvl="1" indent="0">
              <a:lnSpc>
                <a:spcPct val="110000"/>
              </a:lnSpc>
              <a:buFont typeface="Arial" panose="020B0604020202020204" pitchFamily="34" charset="0"/>
              <a:buNone/>
            </a:pPr>
            <a:r>
              <a:t>The app records daily prices and generates trend visualizations to help analyze market movements effectively.</a:t>
            </a:r>
            <a:endParaRPr lang="en-US"/>
          </a:p>
          <a:p>
            <a:pPr marL="0" indent="0">
              <a:lnSpc>
                <a:spcPct val="110000"/>
              </a:lnSpc>
              <a:spcBef>
                <a:spcPts val="2500"/>
              </a:spcBef>
              <a:buFont typeface="Arial" panose="020B0604020202020204" pitchFamily="34" charset="0"/>
              <a:buNone/>
            </a:pPr>
            <a:r>
              <a:rPr lang="en-US" b="1"/>
              <a:t>Offline Data Storage</a:t>
            </a:r>
          </a:p>
          <a:p>
            <a:pPr marL="0" lvl="1" indent="0">
              <a:lnSpc>
                <a:spcPct val="110000"/>
              </a:lnSpc>
              <a:buFont typeface="Arial" panose="020B0604020202020204" pitchFamily="34" charset="0"/>
              <a:buNone/>
            </a:pPr>
            <a:r>
              <a:t>Data is stored locally using SQLite, ensuring users can access the app and data without internet connection.</a:t>
            </a:r>
            <a:endParaRPr lang="en-US"/>
          </a:p>
          <a:p>
            <a:pPr marL="0" indent="0">
              <a:lnSpc>
                <a:spcPct val="110000"/>
              </a:lnSpc>
              <a:spcBef>
                <a:spcPts val="2500"/>
              </a:spcBef>
              <a:buFont typeface="Arial" panose="020B0604020202020204" pitchFamily="34" charset="0"/>
              <a:buNone/>
            </a:pPr>
            <a:r>
              <a:rPr lang="en-US" b="1"/>
              <a:t>Market Comparison</a:t>
            </a:r>
          </a:p>
          <a:p>
            <a:pPr marL="0" lvl="1" indent="0">
              <a:lnSpc>
                <a:spcPct val="110000"/>
              </a:lnSpc>
              <a:buFont typeface="Arial" panose="020B0604020202020204" pitchFamily="34" charset="0"/>
              <a:buNone/>
            </a:pPr>
            <a:r>
              <a:t>Supports comparison of price variations for individual products across different markets for better decision making.</a:t>
            </a:r>
            <a:endParaRPr lang="en-US"/>
          </a:p>
        </p:txBody>
      </p:sp>
    </p:spTree>
    <p:extLst>
      <p:ext uri="{BB962C8B-B14F-4D97-AF65-F5344CB8AC3E}">
        <p14:creationId xmlns:p14="http://schemas.microsoft.com/office/powerpoint/2010/main" val="13013034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896D1-EE16-AE14-2D49-0C218CD6B54B}"/>
              </a:ext>
            </a:extLst>
          </p:cNvPr>
          <p:cNvSpPr>
            <a:spLocks noGrp="1"/>
          </p:cNvSpPr>
          <p:nvPr>
            <p:ph type="title"/>
          </p:nvPr>
        </p:nvSpPr>
        <p:spPr>
          <a:xfrm>
            <a:off x="419559" y="691867"/>
            <a:ext cx="6664559" cy="1217340"/>
          </a:xfrm>
        </p:spPr>
        <p:txBody>
          <a:bodyPr anchor="t">
            <a:normAutofit/>
          </a:bodyPr>
          <a:lstStyle/>
          <a:p>
            <a:r>
              <a:rPr lang="en-US"/>
              <a:t>Expected Outcomes</a:t>
            </a:r>
          </a:p>
        </p:txBody>
      </p:sp>
      <p:sp>
        <p:nvSpPr>
          <p:cNvPr id="4" name="Content Placeholder 3">
            <a:extLst>
              <a:ext uri="{FF2B5EF4-FFF2-40B4-BE49-F238E27FC236}">
                <a16:creationId xmlns:a16="http://schemas.microsoft.com/office/drawing/2014/main" id="{1C3970C7-41DF-B983-72A0-91DBB986450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2217" y="2010699"/>
            <a:ext cx="6661902" cy="4330851"/>
          </a:xfrm>
        </p:spPr>
        <p:txBody>
          <a:bodyPr>
            <a:normAutofit/>
          </a:bodyPr>
          <a:lstStyle/>
          <a:p>
            <a:pPr marL="0" indent="0">
              <a:lnSpc>
                <a:spcPct val="110000"/>
              </a:lnSpc>
              <a:spcBef>
                <a:spcPts val="2500"/>
              </a:spcBef>
              <a:buFont typeface="Arial" panose="020B0604020202020204" pitchFamily="34" charset="0"/>
              <a:buNone/>
            </a:pPr>
            <a:r>
              <a:rPr lang="en-US" b="1"/>
              <a:t>Functional Python Application</a:t>
            </a:r>
          </a:p>
          <a:p>
            <a:pPr marL="0" lvl="1" indent="0">
              <a:lnSpc>
                <a:spcPct val="110000"/>
              </a:lnSpc>
              <a:buFont typeface="Arial" panose="020B0604020202020204" pitchFamily="34" charset="0"/>
              <a:buNone/>
            </a:pPr>
            <a:r>
              <a:t>The project produces a Python app that tracks and visualizes agricultural commodity prices effectively.</a:t>
            </a:r>
            <a:endParaRPr lang="en-US"/>
          </a:p>
          <a:p>
            <a:pPr marL="0" indent="0">
              <a:lnSpc>
                <a:spcPct val="110000"/>
              </a:lnSpc>
              <a:spcBef>
                <a:spcPts val="2500"/>
              </a:spcBef>
              <a:buFont typeface="Arial" panose="020B0604020202020204" pitchFamily="34" charset="0"/>
              <a:buNone/>
            </a:pPr>
            <a:r>
              <a:rPr lang="en-US" b="1"/>
              <a:t>Object-Oriented Design and Data Persistence</a:t>
            </a:r>
          </a:p>
          <a:p>
            <a:pPr marL="0" lvl="1" indent="0">
              <a:lnSpc>
                <a:spcPct val="110000"/>
              </a:lnSpc>
              <a:buFont typeface="Arial" panose="020B0604020202020204" pitchFamily="34" charset="0"/>
              <a:buNone/>
            </a:pPr>
            <a:r>
              <a:t>The application uses object-oriented principles and SQLite for local data storage and management.</a:t>
            </a:r>
            <a:endParaRPr lang="en-US"/>
          </a:p>
          <a:p>
            <a:pPr marL="0" indent="0">
              <a:lnSpc>
                <a:spcPct val="110000"/>
              </a:lnSpc>
              <a:spcBef>
                <a:spcPts val="2500"/>
              </a:spcBef>
              <a:buFont typeface="Arial" panose="020B0604020202020204" pitchFamily="34" charset="0"/>
              <a:buNone/>
            </a:pPr>
            <a:r>
              <a:rPr lang="en-US" b="1"/>
              <a:t>Trend Visualization for Decision Making</a:t>
            </a:r>
          </a:p>
          <a:p>
            <a:pPr marL="0" lvl="1" indent="0">
              <a:lnSpc>
                <a:spcPct val="110000"/>
              </a:lnSpc>
              <a:buFont typeface="Arial" panose="020B0604020202020204" pitchFamily="34" charset="0"/>
              <a:buNone/>
            </a:pPr>
            <a:r>
              <a:t>Trend charts display short-term fluctuations and weekly patterns to support informed decisions.</a:t>
            </a:r>
            <a:endParaRPr lang="en-US"/>
          </a:p>
          <a:p>
            <a:pPr marL="0" indent="0">
              <a:lnSpc>
                <a:spcPct val="110000"/>
              </a:lnSpc>
              <a:spcBef>
                <a:spcPts val="2500"/>
              </a:spcBef>
              <a:buFont typeface="Arial" panose="020B0604020202020204" pitchFamily="34" charset="0"/>
              <a:buNone/>
            </a:pPr>
            <a:r>
              <a:rPr lang="en-US" b="1"/>
              <a:t>Modular Codebase and Project Resources</a:t>
            </a:r>
          </a:p>
          <a:p>
            <a:pPr marL="0" lvl="1" indent="0">
              <a:lnSpc>
                <a:spcPct val="110000"/>
              </a:lnSpc>
              <a:buFont typeface="Arial" panose="020B0604020202020204" pitchFamily="34" charset="0"/>
              <a:buNone/>
            </a:pPr>
            <a:r>
              <a:t>Modular, reusable code enables future features; includes sample datasets, documentation, and GitHub repo.</a:t>
            </a:r>
            <a:endParaRPr lang="en-US"/>
          </a:p>
        </p:txBody>
      </p:sp>
      <p:pic>
        <p:nvPicPr>
          <p:cNvPr id="5" name="Content Placeholder 4" descr="Business report chart analysis tablet computer">
            <a:extLst>
              <a:ext uri="{FF2B5EF4-FFF2-40B4-BE49-F238E27FC236}">
                <a16:creationId xmlns:a16="http://schemas.microsoft.com/office/drawing/2014/main" id="{AEF1E6FF-1F9D-4CFF-832C-40A70FCF98E4}"/>
              </a:ext>
            </a:extLst>
          </p:cNvPr>
          <p:cNvPicPr>
            <a:picLocks noGrp="1" noChangeAspect="1"/>
          </p:cNvPicPr>
          <p:nvPr>
            <p:ph type="pic" sz="quarter" idx="13"/>
          </p:nvPr>
        </p:nvPicPr>
        <p:blipFill>
          <a:blip r:embed="rId3"/>
          <a:stretch/>
        </p:blipFill>
        <p:spPr>
          <a:xfrm>
            <a:off x="7620000" y="1914525"/>
            <a:ext cx="4038600" cy="3028950"/>
          </a:xfrm>
          <a:prstGeom prst="rect">
            <a:avLst/>
          </a:prstGeom>
          <a:noFill/>
        </p:spPr>
      </p:pic>
    </p:spTree>
    <p:extLst>
      <p:ext uri="{BB962C8B-B14F-4D97-AF65-F5344CB8AC3E}">
        <p14:creationId xmlns:p14="http://schemas.microsoft.com/office/powerpoint/2010/main" val="15534457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A8645-1102-C636-F6AE-A0D038F8433F}"/>
              </a:ext>
            </a:extLst>
          </p:cNvPr>
          <p:cNvSpPr>
            <a:spLocks noGrp="1"/>
          </p:cNvSpPr>
          <p:nvPr>
            <p:ph type="title"/>
          </p:nvPr>
        </p:nvSpPr>
        <p:spPr>
          <a:xfrm>
            <a:off x="7007497" y="691868"/>
            <a:ext cx="4660247" cy="1439210"/>
          </a:xfrm>
        </p:spPr>
        <p:txBody>
          <a:bodyPr anchor="t">
            <a:normAutofit/>
          </a:bodyPr>
          <a:lstStyle/>
          <a:p>
            <a:r>
              <a:rPr lang="en-US"/>
              <a:t>Future Enhancements &amp; Conclusion</a:t>
            </a:r>
          </a:p>
        </p:txBody>
      </p:sp>
      <p:pic>
        <p:nvPicPr>
          <p:cNvPr id="5" name="Content Placeholder 4" descr="Farmer with tablet close tractor">
            <a:extLst>
              <a:ext uri="{FF2B5EF4-FFF2-40B4-BE49-F238E27FC236}">
                <a16:creationId xmlns:a16="http://schemas.microsoft.com/office/drawing/2014/main" id="{6E2C00A5-7A6A-47EC-B38D-7F0631436445}"/>
              </a:ext>
            </a:extLst>
          </p:cNvPr>
          <p:cNvPicPr>
            <a:picLocks noGrp="1" noChangeAspect="1"/>
          </p:cNvPicPr>
          <p:nvPr>
            <p:ph type="pic" sz="quarter" idx="13"/>
          </p:nvPr>
        </p:nvPicPr>
        <p:blipFill>
          <a:blip r:embed="rId3"/>
          <a:srcRect l="12253" r="18253" b="1"/>
          <a:stretch>
            <a:fillRect/>
          </a:stretch>
        </p:blipFill>
        <p:spPr>
          <a:xfrm>
            <a:off x="533400" y="533399"/>
            <a:ext cx="6029286" cy="5791201"/>
          </a:xfrm>
          <a:prstGeom prst="rect">
            <a:avLst/>
          </a:prstGeom>
          <a:noFill/>
        </p:spPr>
      </p:pic>
      <p:sp>
        <p:nvSpPr>
          <p:cNvPr id="4" name="Content Placeholder 3">
            <a:extLst>
              <a:ext uri="{FF2B5EF4-FFF2-40B4-BE49-F238E27FC236}">
                <a16:creationId xmlns:a16="http://schemas.microsoft.com/office/drawing/2014/main" id="{141ED293-20F5-57FC-866D-3A568680721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07497" y="2211184"/>
            <a:ext cx="4660247" cy="4113415"/>
          </a:xfrm>
        </p:spPr>
        <p:txBody>
          <a:bodyPr>
            <a:normAutofit/>
          </a:bodyPr>
          <a:lstStyle/>
          <a:p>
            <a:pPr marL="0" indent="0">
              <a:spcBef>
                <a:spcPts val="2500"/>
              </a:spcBef>
              <a:buFont typeface="Arial" panose="020B0604020202020204" pitchFamily="34" charset="0"/>
              <a:buNone/>
            </a:pPr>
            <a:r>
              <a:rPr lang="en-US" b="1"/>
              <a:t>Future Feature Enhancements</a:t>
            </a:r>
          </a:p>
          <a:p>
            <a:pPr marL="0" lvl="1" indent="0">
              <a:buFont typeface="Arial" panose="020B0604020202020204" pitchFamily="34" charset="0"/>
              <a:buNone/>
            </a:pPr>
            <a:r>
              <a:t>Upcoming features include CSV/Excel support, scheduled data entry, cooperative user roles, and SMS/USSD input for low-end phones.</a:t>
            </a:r>
            <a:endParaRPr lang="en-US"/>
          </a:p>
          <a:p>
            <a:pPr marL="0" indent="0">
              <a:spcBef>
                <a:spcPts val="2500"/>
              </a:spcBef>
              <a:buFont typeface="Arial" panose="020B0604020202020204" pitchFamily="34" charset="0"/>
              <a:buNone/>
            </a:pPr>
            <a:r>
              <a:rPr lang="en-US" b="1"/>
              <a:t>Integration and Alerting</a:t>
            </a:r>
          </a:p>
          <a:p>
            <a:pPr marL="0" lvl="1" indent="0">
              <a:buFont typeface="Arial" panose="020B0604020202020204" pitchFamily="34" charset="0"/>
              <a:buNone/>
            </a:pPr>
            <a:r>
              <a:t>Plans include API integration with national datasets and alert features like price thresholds and anomaly detection.</a:t>
            </a:r>
            <a:endParaRPr lang="en-US"/>
          </a:p>
          <a:p>
            <a:pPr marL="0" indent="0">
              <a:spcBef>
                <a:spcPts val="2500"/>
              </a:spcBef>
              <a:buFont typeface="Arial" panose="020B0604020202020204" pitchFamily="34" charset="0"/>
              <a:buNone/>
            </a:pPr>
            <a:r>
              <a:rPr lang="en-US" b="1"/>
              <a:t>Project Conclusion</a:t>
            </a:r>
          </a:p>
          <a:p>
            <a:pPr marL="0" lvl="1" indent="0">
              <a:buFont typeface="Arial" panose="020B0604020202020204" pitchFamily="34" charset="0"/>
              <a:buNone/>
            </a:pPr>
            <a:r>
              <a:t>The project applies object-oriented programming to create an offline solution that tracks market prices and promotes fair trade.</a:t>
            </a:r>
            <a:endParaRPr lang="en-US"/>
          </a:p>
        </p:txBody>
      </p:sp>
    </p:spTree>
    <p:extLst>
      <p:ext uri="{BB962C8B-B14F-4D97-AF65-F5344CB8AC3E}">
        <p14:creationId xmlns:p14="http://schemas.microsoft.com/office/powerpoint/2010/main" val="4141148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Li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DFC564-B38B-4437-B10C-2B4F696FB123}">
  <ds:schemaRefs>
    <ds:schemaRef ds:uri="http://schemas.microsoft.com/sharepoint/v3/contenttype/forms"/>
  </ds:schemaRefs>
</ds:datastoreItem>
</file>

<file path=customXml/itemProps2.xml><?xml version="1.0" encoding="utf-8"?>
<ds:datastoreItem xmlns:ds="http://schemas.openxmlformats.org/officeDocument/2006/customXml" ds:itemID="{68251039-0B1C-45AD-BDF3-E784F1E00F4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2EA6ECCF-1C9D-4352-BA6F-7912216595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Lines</Template>
  <TotalTime>2</TotalTime>
  <Words>4</Words>
  <Application>Microsoft Office PowerPoint</Application>
  <PresentationFormat>Widescreen</PresentationFormat>
  <Paragraphs>2</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Lines</vt:lpstr>
      <vt:lpstr>Local Market Price Tracker for Agricultural Commodities in Uganda</vt:lpstr>
      <vt:lpstr>Project Overview</vt:lpstr>
      <vt:lpstr>Title &amp; Student Info</vt:lpstr>
      <vt:lpstr>Problem Statement</vt:lpstr>
      <vt:lpstr>Objectives</vt:lpstr>
      <vt:lpstr>Real-World Relevance</vt:lpstr>
      <vt:lpstr>Scope of Work</vt:lpstr>
      <vt:lpstr>Tools &amp; Technologies</vt:lpstr>
      <vt:lpstr>System Design (OOP approach)</vt:lpstr>
      <vt:lpstr>Key Features</vt:lpstr>
      <vt:lpstr>Expected Outcomes</vt:lpstr>
      <vt:lpstr>Future Enhancements &amp;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Niyna Spellman</dc:creator>
  <cp:lastModifiedBy>Niyna Spellman</cp:lastModifiedBy>
  <cp:revision>5</cp:revision>
  <dcterms:created xsi:type="dcterms:W3CDTF">2025-08-04T19:15:43Z</dcterms:created>
  <dcterms:modified xsi:type="dcterms:W3CDTF">2025-11-05T04:02:27Z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